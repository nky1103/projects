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94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DOFT Diwali Pop-Up boutique kiosk, premium home-fragrance salon, 8x8 ft, 14 malls, by ProMarcom.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opportunity: premium home fragrance, Diwali gifting, 14 malls, 8x8 boutique kiosk, turnkey.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concept: warm boutique fragrance salon: backlit brand wall, brass shelving, consultation seating, digital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layout: dimensioned 8x8 ft plan: backlit brand wall, perimeter U-counter, central seating, open-corner entries, digital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Materials: warm white lacquer, brushed brass, black stone, backlit acrylic seal, warm LED, digital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story: candles, gift hampers, reed diffusers, room sprays &amp; wax melts on backlit shelving.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malls pan-India per revised client list. Same window; select extend to Xmas/NY.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Rationale: atrium space limited; propose PVR/INOX multiplex foyer activation in the same malls. 14 multiplexes, 107 screens, ~20,000 seats/show.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Multiplex concept: 8x8 foyer activation stall, high dwell, sampling and direct sales. Reference activation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Network: 14 PVR/INOX multiplexes in the same malls; 107 screens; ~20,000 seats/show.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Multiplex commercials: Rs 3,00,000 per site (6 weeks), x14 = Rs 42,00,000, +18% GST = Rs 49,56,000. Terms in favour of ProMarcom.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Turnkey scope: build, transport/install, manpower, logistics, licences, daily operations &amp;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next step is the detailed commercial proposal &amp; costing (separate workbook).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1_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3_1.jp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4_1.jp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5_1.jp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6_1.jp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7_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9_1.jpg"/><Relationship Id="rId4" Type="http://schemas.openxmlformats.org/officeDocument/2006/relationships/image" Target="../media/restimg9_2.jpg"/><Relationship Id="rId5" Type="http://schemas.openxmlformats.org/officeDocument/2006/relationships/image" Target="../media/restimg9_3.jpg"/><Relationship Id="rId6" Type="http://schemas.openxmlformats.org/officeDocument/2006/relationships/image" Target="../media/restimg9_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12_1.jpg"/><Relationship Id="rId4" Type="http://schemas.openxmlformats.org/officeDocument/2006/relationships/image" Target="../media/restimg12_2.jpg"/><Relationship Id="rId5" Type="http://schemas.openxmlformats.org/officeDocument/2006/relationships/image" Target="../media/restimg12_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restimg16_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f_imgs/P1_s2_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0"/>
            <a:ext cx="8076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1B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852160" y="0"/>
            <a:ext cx="2194560" cy="6858000"/>
          </a:xfrm>
          <a:prstGeom prst="rect">
            <a:avLst/>
          </a:prstGeom>
          <a:solidFill>
            <a:srgbClr val="1E1B17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51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6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D8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SCENTED MEMORIES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2194560" cy="0"/>
          </a:xfrm>
          <a:prstGeom prst="line">
            <a:avLst/>
          </a:prstGeom>
          <a:noFill/>
          <a:ln w="1905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Pop-Up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Boutique Kiosk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95528" y="4892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9B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Design  ·  Premium home-fragrance salon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5528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ft × 8 ft</a:t>
            </a:r>
            <a:r>
              <a:rPr lang="en-US" sz="140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14 malls   ·   ~6 weeks festive window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5528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6144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ProMarcom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premium festive stage</a:t>
            </a:r>
            <a:endParaRPr lang="en-US" sz="3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Doft Candles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Doft Candles is a premium home-fragrance brand. For the Diwali gifting season we take the brand into India's highest-footfall malls with a turnkey pop-up boutique kiosk, a warm and luminous salon that invites shoppers to sit, smell and gift.
</a:t>
            </a:r>
            <a:r>
              <a:rPr lang="en-US" sz="1500" b="1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range:  </a:t>
            </a:r>
            <a:r>
              <a:rPr lang="en-US" sz="15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scented candles · reed diffusers · room sprays · wax melts · premium gift hampers.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960120"/>
            <a:ext cx="2331720" cy="214884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0" y="12344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178040" y="21945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malls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92640" y="960120"/>
            <a:ext cx="2331720" cy="214884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0" y="12344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829800" y="21945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 kiosk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sq ft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3429000"/>
            <a:ext cx="2331720" cy="214884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37033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178040" y="46634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festive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Xmas / NY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92640" y="3429000"/>
            <a:ext cx="2331720" cy="214884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92640" y="37033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Turnkey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829800" y="466344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build →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DOFT boutique kiosk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luminous fragrance salon with a backlit brand wall, brass gallery shelving and a place to sit, smell and gift.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Backlit brand-seal wall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284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illuminated DOFT seal anchors the kiosk as a warm beacon across the mall court.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959352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Brass gallery shelving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133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Warm-lit floating shelves stage candles, diffusers and gift sets like a boutique.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764024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6268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seating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table and chairs invite shoppers to sit, sample scents and choose gifts.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568696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54315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brand screen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57424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at the aisle plays the Doft film and draws footfall in.</a:t>
            </a:r>
            <a:endParaRPr lang="en-US" sz="1150" dirty="0"/>
          </a:p>
        </p:txBody>
      </p:sp>
      <p:pic>
        <p:nvPicPr>
          <p:cNvPr id="18" name="Image 0" descr="ref_imgs/P1_s4_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822960"/>
            <a:ext cx="6126480" cy="5212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94015" cy="6858000"/>
          </a:xfrm>
          <a:prstGeom prst="rect">
            <a:avLst/>
          </a:prstGeom>
          <a:solidFill>
            <a:srgbClr val="E7E2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ref_imgs/P1_s4_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320040"/>
            <a:ext cx="7711135" cy="5989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94015" y="0"/>
            <a:ext cx="36576" cy="6858000"/>
          </a:xfrm>
          <a:prstGeom prst="rect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96935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PERSPECTIVE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96935" y="1234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Three-quarter view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8396935" y="2697480"/>
            <a:ext cx="822960" cy="0"/>
          </a:xfrm>
          <a:prstGeom prst="line">
            <a:avLst/>
          </a:prstGeom>
          <a:noFill/>
          <a:ln w="1905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96935" y="29718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Backlit MEMORIES DOFT SCENTED seal wall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96935" y="36301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Warm-lit brass gallery shelving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396935" y="428853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counters with black-stone tops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396935" y="494690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Backlit seal counter fronts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1E1B17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7E2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ref_imgs/P1_s3_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320040"/>
            <a:ext cx="7711135" cy="5989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61104" y="0"/>
            <a:ext cx="36576" cy="6858000"/>
          </a:xfrm>
          <a:prstGeom prst="rect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STOREFRONT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elevation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822960" cy="0"/>
          </a:xfrm>
          <a:prstGeom prst="line">
            <a:avLst/>
          </a:prstGeom>
          <a:noFill/>
          <a:ln w="1905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9718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premium storefront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36301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Illuminated brand seal as the hero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428853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diffusers, candles &amp; gift sets staged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494690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Downlit header fascia &amp; warm LED base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1E1B17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94015" cy="6858000"/>
          </a:xfrm>
          <a:prstGeom prst="rect">
            <a:avLst/>
          </a:prstGeom>
          <a:solidFill>
            <a:srgbClr val="E7E2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ref_imgs/P1_s1_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320040"/>
            <a:ext cx="7711135" cy="5989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94015" y="0"/>
            <a:ext cx="36576" cy="6858000"/>
          </a:xfrm>
          <a:prstGeom prst="rect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96935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LAYOUT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96935" y="12344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view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8396935" y="2697480"/>
            <a:ext cx="822960" cy="0"/>
          </a:xfrm>
          <a:prstGeom prst="line">
            <a:avLst/>
          </a:prstGeom>
          <a:noFill/>
          <a:ln w="1905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96935" y="297180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Open-corner customer entry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96935" y="36301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U-counter wraps the display zone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396935" y="4288536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table &amp; seating for gifting consults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396935" y="4946904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450" dirty="0">
                <a:solidFill>
                  <a:srgbClr val="E9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brand screen at the aisle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1E1B17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LAYOUT ·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ft × 8 ft kiosk footprint</a:t>
            </a:r>
            <a:endParaRPr lang="en-US" sz="2800" dirty="0"/>
          </a:p>
        </p:txBody>
      </p:sp>
      <p:pic>
        <p:nvPicPr>
          <p:cNvPr id="4" name="Image 0" descr="ref_imgs/P1_s5_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25880"/>
            <a:ext cx="758952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371600"/>
            <a:ext cx="3200400" cy="493776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78240" y="1572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ZONES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796528" y="2157984"/>
            <a:ext cx="128016" cy="128016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0" y="20116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Backlit brand wall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052560" y="23042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Illuminated seal + gallery shelving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96528" y="2980944"/>
            <a:ext cx="128016" cy="128016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52560" y="28346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counters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052560" y="31272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U-display wraps three sides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96528" y="3803904"/>
            <a:ext cx="128016" cy="128016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52560" y="36576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Consultation seating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052560" y="39502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table + four chairs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96528" y="4626864"/>
            <a:ext cx="128016" cy="128016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52560" y="4480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Open-corner entries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052560" y="47731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customer flow in &amp; out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96528" y="5449824"/>
            <a:ext cx="128016" cy="128016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52560" y="53035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screen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052560" y="55961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film at the aisle edge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FINISHES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warm, premium material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429000" cy="1234440"/>
          </a:xfrm>
          <a:prstGeom prst="rect">
            <a:avLst/>
          </a:prstGeom>
          <a:solidFill>
            <a:srgbClr val="F0ECE3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27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white lacquer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display walls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429000" cy="1234440"/>
          </a:xfrm>
          <a:prstGeom prst="rect">
            <a:avLst/>
          </a:prstGeom>
          <a:solidFill>
            <a:srgbClr val="C6A24E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3127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Brushed brass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34290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Shelving, trims &amp; legs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75320" y="1828800"/>
            <a:ext cx="3429000" cy="1234440"/>
          </a:xfrm>
          <a:prstGeom prst="rect">
            <a:avLst/>
          </a:prstGeom>
          <a:solidFill>
            <a:srgbClr val="20201E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3127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Black-stone top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34290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surfaces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251960"/>
            <a:ext cx="3429000" cy="1234440"/>
          </a:xfrm>
          <a:prstGeom prst="rect">
            <a:avLst/>
          </a:prstGeom>
          <a:solidFill>
            <a:srgbClr val="F2E4C4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5550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Backlit brand seal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852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Illuminated acrylic panels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4251960"/>
            <a:ext cx="3429000" cy="1234440"/>
          </a:xfrm>
          <a:prstGeom prst="rect">
            <a:avLst/>
          </a:prstGeom>
          <a:solidFill>
            <a:srgbClr val="F3D9A6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5550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LED glow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5852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&amp; downlights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75320" y="4251960"/>
            <a:ext cx="3429000" cy="1234440"/>
          </a:xfrm>
          <a:prstGeom prst="rect">
            <a:avLst/>
          </a:prstGeom>
          <a:solidFill>
            <a:srgbClr val="2B2621"/>
          </a:solidFill>
          <a:ln w="9525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5550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screen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5852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film &amp; catalogue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Merchandising the Doft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Backlit brass shelving and counter displays stage the full gifting range at eye level.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06040" cy="2331720"/>
          </a:xfrm>
          <a:prstGeom prst="rect">
            <a:avLst/>
          </a:prstGeom>
          <a:solidFill>
            <a:srgbClr val="FBF7E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brief_assets/DOFT/16871dda-65d9-4f51-acfd-b2b5ad6183e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" y="2258568"/>
            <a:ext cx="2386584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Scented candles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29000" y="2148840"/>
            <a:ext cx="2606040" cy="2331720"/>
          </a:xfrm>
          <a:prstGeom prst="rect">
            <a:avLst/>
          </a:prstGeom>
          <a:solidFill>
            <a:srgbClr val="FBF7E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brief_assets/DOFT/5dc4e2f7-31d9-4a47-ba1e-1ed1f98adf4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38728" y="2258568"/>
            <a:ext cx="2386584" cy="1691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 hampers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2148840"/>
            <a:ext cx="2606040" cy="2331720"/>
          </a:xfrm>
          <a:prstGeom prst="rect">
            <a:avLst/>
          </a:prstGeom>
          <a:solidFill>
            <a:srgbClr val="FBF7E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brief_assets/DOFT/14f3dd5c-717d-40c6-9314-74ee5f820af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64808" y="2258568"/>
            <a:ext cx="2386584" cy="1691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Reed diffusers &amp; sprays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281160" y="2148840"/>
            <a:ext cx="2606040" cy="2331720"/>
          </a:xfrm>
          <a:prstGeom prst="rect">
            <a:avLst/>
          </a:prstGeom>
          <a:solidFill>
            <a:srgbClr val="FBF7E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brief_assets/DOFT/66d435a3-c7c1-44d9-b723-01f7df92b433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90888" y="2258568"/>
            <a:ext cx="2386584" cy="1691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811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Festive gift boxes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8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1E1B17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premium malls, pan-India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09928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5727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Citywalk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76856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139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Noida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DLF Mall of India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843784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706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Gurgaon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 Mall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410712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32735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Chandigarh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Elante Mall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Lucknow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Mall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89120" y="1709928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15727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 · BKC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World Mall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2276856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2139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 · Lower Parel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Mall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89120" y="2843784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45152" y="2706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Ahmedabad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Mall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89120" y="3410712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5152" y="32735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Nagpur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Mall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89120" y="3977640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840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Kolkata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City Mall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75320" y="1709928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31352" y="15727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Marketcity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75320" y="2276856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31352" y="213969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Marketcity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75320" y="2843784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31352" y="2706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Hyderabad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Mall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75320" y="3410712"/>
            <a:ext cx="146304" cy="146304"/>
          </a:xfrm>
          <a:prstGeom prst="ellipse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31352" y="32735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Kochi   </a:t>
            </a:r>
            <a:r>
              <a:rPr lang="en-US" sz="13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International Mall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festive window across all locations.  </a:t>
            </a:r>
            <a:r>
              <a:rPr lang="en-US" sz="125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high-performing malls extended through Christmas &amp; New Year.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REACH  ·  CHANNEL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multiplex activation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atrium space on a six-week rental is limited and highly contested. To secure reach across every target city we propose </a:t>
            </a:r>
            <a:r>
              <a:rPr lang="en-US" sz="1600" dirty="0" err="1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Doft</a:t>
            </a:r>
            <a:r>
              <a:rPr lang="en-US" sz="16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activation inside the </a:t>
            </a:r>
            <a:r>
              <a:rPr lang="en-US" sz="1600" b="1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PVR / INOX multiplexes located in the same malls</a:t>
            </a:r>
            <a:r>
              <a:rPr lang="en-US" sz="16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captive, premium, high-dwell audience already in a leisure and gifting mindset.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383280"/>
            <a:ext cx="2697480" cy="219456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703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Multiplexes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50109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PVR &amp; INOX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3383280"/>
            <a:ext cx="2697480" cy="219456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3703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02152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50109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network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01384" y="3383280"/>
            <a:ext cx="2697480" cy="219456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01384" y="3703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~20,000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01384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Seats / show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1384" y="50109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capacity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00616" y="3383280"/>
            <a:ext cx="2697480" cy="2194560"/>
          </a:xfrm>
          <a:prstGeom prst="rect">
            <a:avLst/>
          </a:prstGeom>
          <a:solidFill>
            <a:srgbClr val="FBF7E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0616" y="370332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98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8×8 ft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500616" y="4617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Foyer stall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0616" y="50109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window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 ACTIVATION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presence in the cinema foyer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8x8 ft Doft activation stall in the foyer, seen by every patron entering, waiting and exiting: high dwell time, a festive gifting mindset, live sampling and direct sales.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611880" cy="3200400"/>
          </a:xfrm>
          <a:prstGeom prst="rect">
            <a:avLst/>
          </a:prstGeom>
          <a:solidFill>
            <a:srgbClr val="E7E2D8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ref_imgs/cinema_s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" y="2404872"/>
            <a:ext cx="3465576" cy="3054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89120" y="2331720"/>
            <a:ext cx="3611880" cy="3200400"/>
          </a:xfrm>
          <a:prstGeom prst="rect">
            <a:avLst/>
          </a:prstGeom>
          <a:solidFill>
            <a:srgbClr val="E7E2D8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ref_imgs/cinema_s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2404872"/>
            <a:ext cx="3465576" cy="30540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75320" y="2331720"/>
            <a:ext cx="3611880" cy="3200400"/>
          </a:xfrm>
          <a:prstGeom prst="rect">
            <a:avLst/>
          </a:prstGeom>
          <a:solidFill>
            <a:srgbClr val="E7E2D8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ref_imgs/cinema_s4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8472" y="2404872"/>
            <a:ext cx="3465576" cy="30540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5641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foyer activations  ·  PVR / INOX network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premium multiplexes, pan-India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4663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Multiplex / Cinema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 / 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Lower Parel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Phoenix (Worli)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BKC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Maison BKC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Palladium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· Saket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Select Citywalk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DT · Mall of India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Gurgaon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Ambience Mall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Chandigarh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Nexus Elante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Superplex · Lulu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INOX City Centre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INOX City Centre II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Icon · Hitech City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Phoenix Market City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INOX Luxe · Phoenix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PVR Lulu Mall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Totals:  </a:t>
            </a:r>
            <a:r>
              <a:rPr lang="en-US" sz="1200" dirty="0">
                <a:solidFill>
                  <a:srgbClr val="2A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multiplexes  ·  107 screens  ·  ~20,000 seats per show  (PVR + INOX)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5448"/>
            <a:ext cx="109728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 COMMERCIALS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cost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" y="37856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(incl. GST)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1512296" y="637794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1CCC03-2D74-CCC5-81BE-9B26C0DBCCD6}"/>
              </a:ext>
            </a:extLst>
          </p:cNvPr>
          <p:cNvSpPr txBox="1"/>
          <p:nvPr/>
        </p:nvSpPr>
        <p:spPr>
          <a:xfrm>
            <a:off x="-187287" y="-330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99A0BEB5-D690-9BE7-222C-0D4E61CB3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006565"/>
              </p:ext>
            </p:extLst>
          </p:nvPr>
        </p:nvGraphicFramePr>
        <p:xfrm>
          <a:off x="548640" y="1554480"/>
          <a:ext cx="92837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83700" imgH="2667000" progId="Excel.Sheet.12">
                  <p:embed/>
                </p:oleObj>
              </mc:Choice>
              <mc:Fallback>
                <p:oleObj name="Worksheet" r:id="rId3" imgW="9283700" imgH="2667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640" y="1554480"/>
                        <a:ext cx="9283700" cy="266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98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ProMarcom runs the whole programme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build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to the approved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&amp; install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4871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on-site setup &amp; finishing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58200" y="214884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8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9828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Manpower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280" y="24871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billing, supervision, city managers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005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4074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 &amp; replenishment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005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4074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space negotiation &amp; permissions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7490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58200" y="4069080"/>
            <a:ext cx="457200" cy="457200"/>
          </a:xfrm>
          <a:prstGeom prst="ellipse">
            <a:avLst/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58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8280" y="4005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operations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98280" y="44074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cash management, upkeep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r>
              <a:rPr lang="en-US" sz="950" kern="0" spc="10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SCENTED MEMORIES  ·  Diwali Pop-Up Kiosk Concept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0" y="64190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5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ProMarcom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1475720" y="636422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475720" y="6364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f_imgs/P1_s2_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1828800" cy="6858000"/>
          </a:xfrm>
          <a:prstGeom prst="rect">
            <a:avLst/>
          </a:prstGeom>
          <a:solidFill>
            <a:srgbClr val="1E1B17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E1B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6A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500" dirty="0">
                <a:solidFill>
                  <a:srgbClr val="C6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DOFT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58952" y="2148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light up Diwali.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19050">
            <a:solidFill>
              <a:srgbClr val="C6A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6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500" dirty="0">
                <a:solidFill>
                  <a:srgbClr val="D8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commercial proposal &amp; costing: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8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manpower, location charges, logistics, insurance &amp; hardware.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5577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ProMarcom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5528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activation · pop-up · experiential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1355</Words>
  <Application>Microsoft Macintosh PowerPoint</Application>
  <PresentationFormat>Widescreen</PresentationFormat>
  <Paragraphs>300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ProMarcom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ProMarcom</dc:creator>
  <cp:lastModifiedBy>Ankit Arora</cp:lastModifiedBy>
  <cp:revision>4</cp:revision>
  <cp:lastPrinted>2026-08-12T12:46:34Z</cp:lastPrinted>
  <dcterms:created xsi:type="dcterms:W3CDTF">2026-08-12T10:50:22Z</dcterms:created>
  <dcterms:modified xsi:type="dcterms:W3CDTF">2026-08-12T15:05:03Z</dcterms:modified>
</cp:coreProperties>
</file>