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Cover: DOFT Diwali Pop-Up boutique kiosk, premium home-fragrance salon, 8x8 ft, 14 malls, by ProMarcom.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opportunity: premium home fragrance, Diwali gifting, 14 malls, 8x8 boutique kiosk, turnkey.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concept: warm boutique fragrance salon: backlit brand wall, brass shelving, consultation seating, digital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layout: dimensioned 8x8 ft plan: backlit brand wall, perimeter U-counter, central seating, open-corner entries, digital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Materials: warm white lacquer, brushed brass, black stone, backlit acrylic seal, warm LED, digital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 story: candles, gift hampers, reed diffusers, room sprays &amp; wax melts on backlit shelving.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 malls pan-India per revised client list. Same window; select extend to Xmas/NY.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Rationale: atrium space limited; propose PVR/INOX multiplex foyer activation in the same malls. 14 multiplexes, 107 screens, ~20,000 seats/show.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Multiplex concept: 8x8 foyer activation stall, high dwell, sampling and direct sales. Reference activation photos.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Network: 14 PVR/INOX multiplexes in the same malls; 107 screens; ~20,000 seats/show.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Activation Cost : client-facing quoted figures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Multiplex Option : client-facing quoted figures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Atrium Option : client-facing quoted figures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Turnkey scope: build, transport/install, manpower, logistics, licences, daily operations &amp; reporting.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Closing: next step is the detailed commercial proposal &amp; costing (separate workbook).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f_imgs/P1_s2_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0" y="0"/>
            <a:ext cx="80768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1E1B17"/>
          </a:solidFill>
          <a:ln/>
        </p:spPr>
      </p:sp>
      <p:sp>
        <p:nvSpPr>
          <p:cNvPr id="4" name="Shape 1"/>
          <p:cNvSpPr/>
          <p:nvPr/>
        </p:nvSpPr>
        <p:spPr>
          <a:xfrm>
            <a:off x="5852160" y="0"/>
            <a:ext cx="2194560" cy="6858000"/>
          </a:xfrm>
          <a:prstGeom prst="rect">
            <a:avLst/>
          </a:prstGeom>
          <a:solidFill>
            <a:srgbClr val="1E1B17">
              <a:alpha val="62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6A24E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51560"/>
            <a:ext cx="5486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spc="6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endParaRPr lang="en-US" sz="6600" dirty="0"/>
          </a:p>
        </p:txBody>
      </p:sp>
      <p:sp>
        <p:nvSpPr>
          <p:cNvPr id="7" name="Text 4"/>
          <p:cNvSpPr/>
          <p:nvPr/>
        </p:nvSpPr>
        <p:spPr>
          <a:xfrm>
            <a:off x="868680" y="21945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600" kern="0" dirty="0">
                <a:solidFill>
                  <a:srgbClr val="D8C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SCENTED MEMORIES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22960" y="2834640"/>
            <a:ext cx="2194560" cy="0"/>
          </a:xfrm>
          <a:prstGeom prst="line">
            <a:avLst/>
          </a:prstGeom>
          <a:noFill/>
          <a:ln w="19050">
            <a:solidFill>
              <a:srgbClr val="C6A24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3017520"/>
            <a:ext cx="5486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Diwali Pop-Up</a:t>
            </a:r>
            <a:endParaRPr lang="en-US" sz="38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Boutique Kiosk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795528" y="4892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C9B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Design  ·  Premium home-fragrance salon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795528" y="53492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ft × 8 ft</a:t>
            </a:r>
            <a:pPr indent="0" marL="0">
              <a:buNone/>
            </a:pPr>
            <a:r>
              <a:rPr lang="en-US" sz="1400" dirty="0">
                <a:solidFill>
                  <a:srgbClr val="B8A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14 malls   ·   ~6 weeks festive window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95528" y="5897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9A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77240" y="614476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ProMarcom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A98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67665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premium festive stage</a:t>
            </a:r>
            <a:endParaRPr lang="en-US" sz="3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Doft Candles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2331720"/>
            <a:ext cx="61264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2A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Doft Candles is a premium home-fragrance brand. For the Diwali gifting season we take the brand into India's highest-footfall malls with a turnkey pop-up boutique kiosk, a warm and luminous salon that invites shoppers to sit, smell and gift.
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A98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range: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2A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scented candles · reed diffusers · room sprays · wax melts · premium gift hampers.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040880" y="960120"/>
            <a:ext cx="2331720" cy="2148840"/>
          </a:xfrm>
          <a:prstGeom prst="rect">
            <a:avLst/>
          </a:prstGeom>
          <a:solidFill>
            <a:srgbClr val="FBF7EF"/>
          </a:solidFill>
          <a:ln w="12700">
            <a:solidFill>
              <a:srgbClr val="E6D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40880" y="1234440"/>
            <a:ext cx="2331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98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178040" y="2194560"/>
            <a:ext cx="2057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B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malls</a:t>
            </a:r>
            <a:endParaRPr lang="en-US" sz="12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B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Pan-India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9692640" y="960120"/>
            <a:ext cx="2331720" cy="2148840"/>
          </a:xfrm>
          <a:prstGeom prst="rect">
            <a:avLst/>
          </a:prstGeom>
          <a:solidFill>
            <a:srgbClr val="FBF7EF"/>
          </a:solidFill>
          <a:ln w="12700">
            <a:solidFill>
              <a:srgbClr val="E6DE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92640" y="1234440"/>
            <a:ext cx="2331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98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8×8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9829800" y="2194560"/>
            <a:ext cx="2057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B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Feet kiosk</a:t>
            </a:r>
            <a:endParaRPr lang="en-US" sz="12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B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sq ft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040880" y="3429000"/>
            <a:ext cx="2331720" cy="2148840"/>
          </a:xfrm>
          <a:prstGeom prst="rect">
            <a:avLst/>
          </a:prstGeom>
          <a:solidFill>
            <a:srgbClr val="FBF7EF"/>
          </a:solidFill>
          <a:ln w="12700">
            <a:solidFill>
              <a:srgbClr val="E6DE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40880" y="3703320"/>
            <a:ext cx="2331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98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~6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7178040" y="4663440"/>
            <a:ext cx="2057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B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festive</a:t>
            </a:r>
            <a:endParaRPr lang="en-US" sz="12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B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Xmas / NY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692640" y="3429000"/>
            <a:ext cx="2331720" cy="2148840"/>
          </a:xfrm>
          <a:prstGeom prst="rect">
            <a:avLst/>
          </a:prstGeom>
          <a:solidFill>
            <a:srgbClr val="FBF7EF"/>
          </a:solidFill>
          <a:ln w="12700">
            <a:solidFill>
              <a:srgbClr val="E6DEC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92640" y="3703320"/>
            <a:ext cx="2331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98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Turnkey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9829800" y="4663440"/>
            <a:ext cx="2057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B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→ build →</a:t>
            </a:r>
            <a:endParaRPr lang="en-US" sz="12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B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operate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FE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928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A98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CONCEPT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49377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1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DOFT boutique kiosk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02920" y="1965960"/>
            <a:ext cx="47548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A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warm, luminous fragrance salon with a backlit brand wall, brass gallery shelving and a place to sit, smell and gift.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3154680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30175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Backlit brand-seal wall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77240" y="3328416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illuminated DOFT seal anchors the kiosk as a warm beacon across the mall court.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3959352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822192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Brass gallery shelving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77240" y="4133088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Warm-lit floating shelves stage candles, diffusers and gift sets like a boutique.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4764024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4626864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Consultation seating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77240" y="4937760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central table and chairs invite shoppers to sit, sample scents and choose gifts.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02920" y="5568696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5431536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brand screen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77240" y="5742432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 at the aisle plays the Doft film and draws footfall in.</a:t>
            </a:r>
            <a:endParaRPr lang="en-US" sz="1150" dirty="0"/>
          </a:p>
        </p:txBody>
      </p:sp>
      <p:pic>
        <p:nvPicPr>
          <p:cNvPr id="18" name="Image 0" descr="ref_imgs/P1_s4_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06440" y="822960"/>
            <a:ext cx="6126480" cy="521208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FE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894015" cy="6858000"/>
          </a:xfrm>
          <a:prstGeom prst="rect">
            <a:avLst/>
          </a:prstGeom>
          <a:solidFill>
            <a:srgbClr val="E7E2D8"/>
          </a:solidFill>
          <a:ln/>
        </p:spPr>
      </p:sp>
      <p:pic>
        <p:nvPicPr>
          <p:cNvPr id="3" name="Image 0" descr="ref_imgs/P1_s4_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" y="320040"/>
            <a:ext cx="7711135" cy="5989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894015" y="0"/>
            <a:ext cx="4297680" cy="6858000"/>
          </a:xfrm>
          <a:prstGeom prst="rect">
            <a:avLst/>
          </a:prstGeom>
          <a:solidFill>
            <a:srgbClr val="2B2621"/>
          </a:solidFill>
          <a:ln/>
        </p:spPr>
      </p:sp>
      <p:sp>
        <p:nvSpPr>
          <p:cNvPr id="5" name="Shape 2"/>
          <p:cNvSpPr/>
          <p:nvPr/>
        </p:nvSpPr>
        <p:spPr>
          <a:xfrm>
            <a:off x="7894015" y="0"/>
            <a:ext cx="36576" cy="6858000"/>
          </a:xfrm>
          <a:prstGeom prst="rect">
            <a:avLst/>
          </a:prstGeom>
          <a:solidFill>
            <a:srgbClr val="C6A24E"/>
          </a:solidFill>
          <a:ln/>
        </p:spPr>
      </p:sp>
      <p:sp>
        <p:nvSpPr>
          <p:cNvPr id="6" name="Text 3"/>
          <p:cNvSpPr/>
          <p:nvPr/>
        </p:nvSpPr>
        <p:spPr>
          <a:xfrm>
            <a:off x="8396935" y="8686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· PERSPECTIVE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8396935" y="1234440"/>
            <a:ext cx="3383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Three-quarter view</a:t>
            </a:r>
            <a:endParaRPr lang="en-US" sz="2900" dirty="0"/>
          </a:p>
        </p:txBody>
      </p:sp>
      <p:sp>
        <p:nvSpPr>
          <p:cNvPr id="8" name="Shape 5"/>
          <p:cNvSpPr/>
          <p:nvPr/>
        </p:nvSpPr>
        <p:spPr>
          <a:xfrm>
            <a:off x="8396935" y="2697480"/>
            <a:ext cx="822960" cy="0"/>
          </a:xfrm>
          <a:prstGeom prst="line">
            <a:avLst/>
          </a:prstGeom>
          <a:noFill/>
          <a:ln w="19050">
            <a:solidFill>
              <a:srgbClr val="C6A24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396935" y="2971800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9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Backlit MEMORIES DOFT SCENTED seal wall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396935" y="3630168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9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Warm-lit brass gallery shelving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8396935" y="4288536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9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 counters with black-stone tops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8396935" y="4946904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9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Backlit seal counter fronts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B8A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B8A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1E1B17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FE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97680" y="0"/>
            <a:ext cx="7894015" cy="6858000"/>
          </a:xfrm>
          <a:prstGeom prst="rect">
            <a:avLst/>
          </a:prstGeom>
          <a:solidFill>
            <a:srgbClr val="E7E2D8"/>
          </a:solidFill>
          <a:ln/>
        </p:spPr>
      </p:sp>
      <p:pic>
        <p:nvPicPr>
          <p:cNvPr id="3" name="Image 0" descr="ref_imgs/P1_s3_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389120" y="320040"/>
            <a:ext cx="7711135" cy="5989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2B2621"/>
          </a:solidFill>
          <a:ln/>
        </p:spPr>
      </p:sp>
      <p:sp>
        <p:nvSpPr>
          <p:cNvPr id="5" name="Shape 2"/>
          <p:cNvSpPr/>
          <p:nvPr/>
        </p:nvSpPr>
        <p:spPr>
          <a:xfrm>
            <a:off x="4261104" y="0"/>
            <a:ext cx="36576" cy="6858000"/>
          </a:xfrm>
          <a:prstGeom prst="rect">
            <a:avLst/>
          </a:prstGeom>
          <a:solidFill>
            <a:srgbClr val="C6A24E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8686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· STOREFRONT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02920" y="1234440"/>
            <a:ext cx="3383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 elevation</a:t>
            </a:r>
            <a:endParaRPr lang="en-US" sz="2900" dirty="0"/>
          </a:p>
        </p:txBody>
      </p:sp>
      <p:sp>
        <p:nvSpPr>
          <p:cNvPr id="8" name="Shape 5"/>
          <p:cNvSpPr/>
          <p:nvPr/>
        </p:nvSpPr>
        <p:spPr>
          <a:xfrm>
            <a:off x="502920" y="2697480"/>
            <a:ext cx="822960" cy="0"/>
          </a:xfrm>
          <a:prstGeom prst="line">
            <a:avLst/>
          </a:prstGeom>
          <a:noFill/>
          <a:ln w="19050">
            <a:solidFill>
              <a:srgbClr val="C6A24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2971800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9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Symmetrical premium storefront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502920" y="3630168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9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Illuminated brand seal as the hero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502920" y="4288536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9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Reed diffusers, candles &amp; gift sets staged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502920" y="4946904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9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Downlit header fascia &amp; warm LED base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B8A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B8A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1E1B17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FE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894015" cy="6858000"/>
          </a:xfrm>
          <a:prstGeom prst="rect">
            <a:avLst/>
          </a:prstGeom>
          <a:solidFill>
            <a:srgbClr val="E7E2D8"/>
          </a:solidFill>
          <a:ln/>
        </p:spPr>
      </p:sp>
      <p:pic>
        <p:nvPicPr>
          <p:cNvPr id="3" name="Image 0" descr="ref_imgs/P1_s1_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" y="320040"/>
            <a:ext cx="7711135" cy="5989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894015" y="0"/>
            <a:ext cx="4297680" cy="6858000"/>
          </a:xfrm>
          <a:prstGeom prst="rect">
            <a:avLst/>
          </a:prstGeom>
          <a:solidFill>
            <a:srgbClr val="2B2621"/>
          </a:solidFill>
          <a:ln/>
        </p:spPr>
      </p:sp>
      <p:sp>
        <p:nvSpPr>
          <p:cNvPr id="5" name="Shape 2"/>
          <p:cNvSpPr/>
          <p:nvPr/>
        </p:nvSpPr>
        <p:spPr>
          <a:xfrm>
            <a:off x="7894015" y="0"/>
            <a:ext cx="36576" cy="6858000"/>
          </a:xfrm>
          <a:prstGeom prst="rect">
            <a:avLst/>
          </a:prstGeom>
          <a:solidFill>
            <a:srgbClr val="C6A24E"/>
          </a:solidFill>
          <a:ln/>
        </p:spPr>
      </p:sp>
      <p:sp>
        <p:nvSpPr>
          <p:cNvPr id="6" name="Text 3"/>
          <p:cNvSpPr/>
          <p:nvPr/>
        </p:nvSpPr>
        <p:spPr>
          <a:xfrm>
            <a:off x="8396935" y="8686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· LAYOUT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8396935" y="1234440"/>
            <a:ext cx="3383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Interior view</a:t>
            </a:r>
            <a:endParaRPr lang="en-US" sz="2900" dirty="0"/>
          </a:p>
        </p:txBody>
      </p:sp>
      <p:sp>
        <p:nvSpPr>
          <p:cNvPr id="8" name="Shape 5"/>
          <p:cNvSpPr/>
          <p:nvPr/>
        </p:nvSpPr>
        <p:spPr>
          <a:xfrm>
            <a:off x="8396935" y="2697480"/>
            <a:ext cx="822960" cy="0"/>
          </a:xfrm>
          <a:prstGeom prst="line">
            <a:avLst/>
          </a:prstGeom>
          <a:noFill/>
          <a:ln w="19050">
            <a:solidFill>
              <a:srgbClr val="C6A24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396935" y="2971800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9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Open-corner customer entry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396935" y="3630168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9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U-counter wraps the display zone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8396935" y="4288536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9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table &amp; seating for gifting consults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8396935" y="4946904"/>
            <a:ext cx="3429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</a:t>
            </a: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E9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brand screen at the aisle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B8A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B8A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1E1B17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A98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LAYOUT · PLAN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ft × 8 ft kiosk footprint</a:t>
            </a:r>
            <a:endParaRPr lang="en-US" sz="2800" dirty="0"/>
          </a:p>
        </p:txBody>
      </p:sp>
      <p:pic>
        <p:nvPicPr>
          <p:cNvPr id="4" name="Image 0" descr="ref_imgs/P1_s5_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25880"/>
            <a:ext cx="7589520" cy="5212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503920" y="1371600"/>
            <a:ext cx="3200400" cy="4937760"/>
          </a:xfrm>
          <a:prstGeom prst="rect">
            <a:avLst/>
          </a:prstGeom>
          <a:solidFill>
            <a:srgbClr val="FBF7EF"/>
          </a:solidFill>
          <a:ln w="12700">
            <a:solidFill>
              <a:srgbClr val="E6DEC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778240" y="15727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98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ZONES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796528" y="2157984"/>
            <a:ext cx="128016" cy="128016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8" name="Text 5"/>
          <p:cNvSpPr/>
          <p:nvPr/>
        </p:nvSpPr>
        <p:spPr>
          <a:xfrm>
            <a:off x="9052560" y="2011680"/>
            <a:ext cx="2514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Backlit brand wall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9052560" y="2304288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Illuminated seal + gallery shelving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796528" y="2980944"/>
            <a:ext cx="128016" cy="128016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11" name="Text 8"/>
          <p:cNvSpPr/>
          <p:nvPr/>
        </p:nvSpPr>
        <p:spPr>
          <a:xfrm>
            <a:off x="9052560" y="2834640"/>
            <a:ext cx="2514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Perimeter counters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9052560" y="3127248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U-display wraps three sides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796528" y="3803904"/>
            <a:ext cx="128016" cy="128016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14" name="Text 11"/>
          <p:cNvSpPr/>
          <p:nvPr/>
        </p:nvSpPr>
        <p:spPr>
          <a:xfrm>
            <a:off x="9052560" y="3657600"/>
            <a:ext cx="2514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Consultation seating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9052560" y="3950208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table + four chairs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796528" y="4626864"/>
            <a:ext cx="128016" cy="128016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17" name="Text 14"/>
          <p:cNvSpPr/>
          <p:nvPr/>
        </p:nvSpPr>
        <p:spPr>
          <a:xfrm>
            <a:off x="9052560" y="4480560"/>
            <a:ext cx="2514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Open-corner entries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9052560" y="4773168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customer flow in &amp; out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8796528" y="5449824"/>
            <a:ext cx="128016" cy="128016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20" name="Text 17"/>
          <p:cNvSpPr/>
          <p:nvPr/>
        </p:nvSpPr>
        <p:spPr>
          <a:xfrm>
            <a:off x="9052560" y="5303520"/>
            <a:ext cx="2514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screen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9052560" y="5596128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film at the aisle edge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A98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&amp; FINISHES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warm, premium material palette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828800"/>
            <a:ext cx="3429000" cy="1234440"/>
          </a:xfrm>
          <a:prstGeom prst="rect">
            <a:avLst/>
          </a:prstGeom>
          <a:solidFill>
            <a:srgbClr val="F0ECE3"/>
          </a:solidFill>
          <a:ln w="9525">
            <a:solidFill>
              <a:srgbClr val="E6DE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127248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 white lacquer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3429000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&amp; display walls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89120" y="1828800"/>
            <a:ext cx="3429000" cy="1234440"/>
          </a:xfrm>
          <a:prstGeom prst="rect">
            <a:avLst/>
          </a:prstGeom>
          <a:solidFill>
            <a:srgbClr val="C6A24E"/>
          </a:solidFill>
          <a:ln w="9525">
            <a:solidFill>
              <a:srgbClr val="E6DE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0" y="3127248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Brushed brass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389120" y="3429000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Shelving, trims &amp; legs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275320" y="1828800"/>
            <a:ext cx="3429000" cy="1234440"/>
          </a:xfrm>
          <a:prstGeom prst="rect">
            <a:avLst/>
          </a:prstGeom>
          <a:solidFill>
            <a:srgbClr val="20201E"/>
          </a:solidFill>
          <a:ln w="9525">
            <a:solidFill>
              <a:srgbClr val="E6D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75320" y="3127248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Black-stone top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275320" y="3429000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 surfaces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4251960"/>
            <a:ext cx="3429000" cy="1234440"/>
          </a:xfrm>
          <a:prstGeom prst="rect">
            <a:avLst/>
          </a:prstGeom>
          <a:solidFill>
            <a:srgbClr val="F2E4C4"/>
          </a:solidFill>
          <a:ln w="9525">
            <a:solidFill>
              <a:srgbClr val="E6D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5550408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Backlit brand seal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02920" y="5852160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Illuminated acrylic panels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89120" y="4251960"/>
            <a:ext cx="3429000" cy="1234440"/>
          </a:xfrm>
          <a:prstGeom prst="rect">
            <a:avLst/>
          </a:prstGeom>
          <a:solidFill>
            <a:srgbClr val="F3D9A6"/>
          </a:solidFill>
          <a:ln w="9525">
            <a:solidFill>
              <a:srgbClr val="E6DEC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0" y="5550408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 LED glow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389120" y="5852160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Perimeter &amp; downlights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275320" y="4251960"/>
            <a:ext cx="3429000" cy="1234440"/>
          </a:xfrm>
          <a:prstGeom prst="rect">
            <a:avLst/>
          </a:prstGeom>
          <a:solidFill>
            <a:srgbClr val="2B2621"/>
          </a:solidFill>
          <a:ln w="9525">
            <a:solidFill>
              <a:srgbClr val="E6DEC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75320" y="5550408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screen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275320" y="5852160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film &amp; catalogue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1B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RANGE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Merchandising the Doft story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508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C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Backlit brass shelving and counter displays stage the full gifting range at eye level.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2148840"/>
            <a:ext cx="2606040" cy="2331720"/>
          </a:xfrm>
          <a:prstGeom prst="rect">
            <a:avLst/>
          </a:prstGeom>
          <a:solidFill>
            <a:srgbClr val="FBF7EF"/>
          </a:solidFill>
          <a:ln w="12700">
            <a:solidFill>
              <a:srgbClr val="C6A24E"/>
            </a:solidFill>
            <a:prstDash val="solid"/>
          </a:ln>
        </p:spPr>
      </p:sp>
      <p:pic>
        <p:nvPicPr>
          <p:cNvPr id="6" name="Image 0" descr="brief_assets/DOFT/16871dda-65d9-4f51-acfd-b2b5ad6183e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" y="2258568"/>
            <a:ext cx="2386584" cy="1691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402336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Scented candles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429000" y="2148840"/>
            <a:ext cx="2606040" cy="2331720"/>
          </a:xfrm>
          <a:prstGeom prst="rect">
            <a:avLst/>
          </a:prstGeom>
          <a:solidFill>
            <a:srgbClr val="FBF7EF"/>
          </a:solidFill>
          <a:ln w="12700">
            <a:solidFill>
              <a:srgbClr val="C6A24E"/>
            </a:solidFill>
            <a:prstDash val="solid"/>
          </a:ln>
        </p:spPr>
      </p:sp>
      <p:pic>
        <p:nvPicPr>
          <p:cNvPr id="9" name="Image 1" descr="brief_assets/DOFT/5dc4e2f7-31d9-4a47-ba1e-1ed1f98adf47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538728" y="2258568"/>
            <a:ext cx="2386584" cy="16916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429000" y="402336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Gift hampers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355080" y="2148840"/>
            <a:ext cx="2606040" cy="2331720"/>
          </a:xfrm>
          <a:prstGeom prst="rect">
            <a:avLst/>
          </a:prstGeom>
          <a:solidFill>
            <a:srgbClr val="FBF7EF"/>
          </a:solidFill>
          <a:ln w="12700">
            <a:solidFill>
              <a:srgbClr val="C6A24E"/>
            </a:solidFill>
            <a:prstDash val="solid"/>
          </a:ln>
        </p:spPr>
      </p:sp>
      <p:pic>
        <p:nvPicPr>
          <p:cNvPr id="12" name="Image 2" descr="brief_assets/DOFT/14f3dd5c-717d-40c6-9314-74ee5f820af0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64808" y="2258568"/>
            <a:ext cx="2386584" cy="16916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355080" y="402336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Reed diffusers &amp; sprays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9281160" y="2148840"/>
            <a:ext cx="2606040" cy="2331720"/>
          </a:xfrm>
          <a:prstGeom prst="rect">
            <a:avLst/>
          </a:prstGeom>
          <a:solidFill>
            <a:srgbClr val="FBF7EF"/>
          </a:solidFill>
          <a:ln w="12700">
            <a:solidFill>
              <a:srgbClr val="C6A24E"/>
            </a:solidFill>
            <a:prstDash val="solid"/>
          </a:ln>
        </p:spPr>
      </p:sp>
      <p:pic>
        <p:nvPicPr>
          <p:cNvPr id="15" name="Image 3" descr="brief_assets/DOFT/66d435a3-c7c1-44d9-b723-01f7df92b433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390888" y="2258568"/>
            <a:ext cx="2386584" cy="169164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281160" y="402336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Festive gift boxes</a:t>
            </a:r>
            <a:endParaRPr lang="en-US" sz="1250" dirty="0"/>
          </a:p>
        </p:txBody>
      </p:sp>
      <p:sp>
        <p:nvSpPr>
          <p:cNvPr id="17" name="Text 11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B8A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18" name="Text 12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B8A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19" name="Shape 13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1E1B17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A98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FOOTPRINT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premium malls, pan-India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709928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5" name="Text 3"/>
          <p:cNvSpPr/>
          <p:nvPr/>
        </p:nvSpPr>
        <p:spPr>
          <a:xfrm>
            <a:off x="758952" y="157276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Delhi   </a:t>
            </a:r>
            <a:pPr indent="0" marL="0">
              <a:buNone/>
            </a:pPr>
            <a:r>
              <a:rPr lang="en-US" sz="13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Citywalk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02920" y="2276856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213969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Noida   </a:t>
            </a:r>
            <a:pPr indent="0" marL="0">
              <a:buNone/>
            </a:pPr>
            <a:r>
              <a:rPr lang="en-US" sz="13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DLF Mall of India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843784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9" name="Text 7"/>
          <p:cNvSpPr/>
          <p:nvPr/>
        </p:nvSpPr>
        <p:spPr>
          <a:xfrm>
            <a:off x="758952" y="2706624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Gurgaon   </a:t>
            </a:r>
            <a:pPr indent="0" marL="0">
              <a:buNone/>
            </a:pPr>
            <a:r>
              <a:rPr lang="en-US" sz="13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Ambience Mall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410712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3273552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Chandigarh   </a:t>
            </a:r>
            <a:pPr indent="0" marL="0">
              <a:buNone/>
            </a:pPr>
            <a:r>
              <a:rPr lang="en-US" sz="13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Elante Mall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77640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13" name="Text 11"/>
          <p:cNvSpPr/>
          <p:nvPr/>
        </p:nvSpPr>
        <p:spPr>
          <a:xfrm>
            <a:off x="758952" y="38404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Lucknow   </a:t>
            </a:r>
            <a:pPr indent="0" marL="0">
              <a:buNone/>
            </a:pPr>
            <a:r>
              <a:rPr lang="en-US" sz="13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 Mall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389120" y="1709928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15" name="Text 13"/>
          <p:cNvSpPr/>
          <p:nvPr/>
        </p:nvSpPr>
        <p:spPr>
          <a:xfrm>
            <a:off x="4645152" y="157276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Mumbai · BKC   </a:t>
            </a:r>
            <a:pPr indent="0" marL="0">
              <a:buNone/>
            </a:pPr>
            <a:r>
              <a:rPr lang="en-US" sz="13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Jio World Mall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389120" y="2276856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17" name="Text 15"/>
          <p:cNvSpPr/>
          <p:nvPr/>
        </p:nvSpPr>
        <p:spPr>
          <a:xfrm>
            <a:off x="4645152" y="213969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Mumbai · Lower Parel   </a:t>
            </a:r>
            <a:pPr indent="0" marL="0">
              <a:buNone/>
            </a:pPr>
            <a:r>
              <a:rPr lang="en-US" sz="13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Phoenix Mall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389120" y="2843784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19" name="Text 17"/>
          <p:cNvSpPr/>
          <p:nvPr/>
        </p:nvSpPr>
        <p:spPr>
          <a:xfrm>
            <a:off x="4645152" y="2706624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Ahmedabad   </a:t>
            </a:r>
            <a:pPr indent="0" marL="0">
              <a:buNone/>
            </a:pPr>
            <a:r>
              <a:rPr lang="en-US" sz="13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Phoenix Mall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389120" y="3410712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21" name="Text 19"/>
          <p:cNvSpPr/>
          <p:nvPr/>
        </p:nvSpPr>
        <p:spPr>
          <a:xfrm>
            <a:off x="4645152" y="3273552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Nagpur   </a:t>
            </a:r>
            <a:pPr indent="0" marL="0">
              <a:buNone/>
            </a:pPr>
            <a:r>
              <a:rPr lang="en-US" sz="13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 Mall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389120" y="3977640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23" name="Text 21"/>
          <p:cNvSpPr/>
          <p:nvPr/>
        </p:nvSpPr>
        <p:spPr>
          <a:xfrm>
            <a:off x="4645152" y="38404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Kolkata   </a:t>
            </a:r>
            <a:pPr indent="0" marL="0">
              <a:buNone/>
            </a:pPr>
            <a:r>
              <a:rPr lang="en-US" sz="13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 City Mall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8275320" y="1709928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25" name="Text 23"/>
          <p:cNvSpPr/>
          <p:nvPr/>
        </p:nvSpPr>
        <p:spPr>
          <a:xfrm>
            <a:off x="8531352" y="157276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Chennai   </a:t>
            </a:r>
            <a:pPr indent="0" marL="0">
              <a:buNone/>
            </a:pPr>
            <a:r>
              <a:rPr lang="en-US" sz="13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Phoenix Marketcity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8275320" y="2276856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27" name="Text 25"/>
          <p:cNvSpPr/>
          <p:nvPr/>
        </p:nvSpPr>
        <p:spPr>
          <a:xfrm>
            <a:off x="8531352" y="213969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Bengaluru   </a:t>
            </a:r>
            <a:pPr indent="0" marL="0">
              <a:buNone/>
            </a:pPr>
            <a:r>
              <a:rPr lang="en-US" sz="13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Phoenix Marketcity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8275320" y="2843784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29" name="Text 27"/>
          <p:cNvSpPr/>
          <p:nvPr/>
        </p:nvSpPr>
        <p:spPr>
          <a:xfrm>
            <a:off x="8531352" y="2706624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Hyderabad   </a:t>
            </a:r>
            <a:pPr indent="0" marL="0">
              <a:buNone/>
            </a:pPr>
            <a:r>
              <a:rPr lang="en-US" sz="13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Phoenix Mall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8275320" y="3410712"/>
            <a:ext cx="146304" cy="146304"/>
          </a:xfrm>
          <a:prstGeom prst="ellipse">
            <a:avLst/>
          </a:prstGeom>
          <a:solidFill>
            <a:srgbClr val="C6A24E"/>
          </a:solidFill>
          <a:ln/>
        </p:spPr>
      </p:sp>
      <p:sp>
        <p:nvSpPr>
          <p:cNvPr id="31" name="Text 29"/>
          <p:cNvSpPr/>
          <p:nvPr/>
        </p:nvSpPr>
        <p:spPr>
          <a:xfrm>
            <a:off x="8531352" y="3273552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Kochi   </a:t>
            </a:r>
            <a:pPr indent="0" marL="0">
              <a:buNone/>
            </a:pPr>
            <a:r>
              <a:rPr lang="en-US" sz="13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 International Mall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02920" y="5806440"/>
            <a:ext cx="11155680" cy="502920"/>
          </a:xfrm>
          <a:prstGeom prst="rect">
            <a:avLst/>
          </a:prstGeom>
          <a:solidFill>
            <a:srgbClr val="FBF7EF"/>
          </a:solidFill>
          <a:ln w="12700">
            <a:solidFill>
              <a:srgbClr val="E6DEC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580644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festive window across all locations.  </a:t>
            </a:r>
            <a:pPr indent="0" marL="0">
              <a:buNone/>
            </a:pPr>
            <a:r>
              <a:rPr lang="en-US" sz="1250" dirty="0">
                <a:solidFill>
                  <a:srgbClr val="2A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high-performing malls extended through Christmas &amp; New Year.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A98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REACH  ·  CHANNEL 2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Adding multiplex activation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600200"/>
            <a:ext cx="111556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2A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atrium space on a six-week rental is limited and highly contested. To secure reach across every target city we propose a parallel Doft activation inside the </a:t>
            </a:r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A98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PVR / INOX multiplexes located in the same malls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2A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 captive, premium, high-dwell audience already in a leisure and gifting mindset.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3383280"/>
            <a:ext cx="2697480" cy="2194560"/>
          </a:xfrm>
          <a:prstGeom prst="rect">
            <a:avLst/>
          </a:prstGeom>
          <a:solidFill>
            <a:srgbClr val="FBF7EF"/>
          </a:solidFill>
          <a:ln w="12700">
            <a:solidFill>
              <a:srgbClr val="E6D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370332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A98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502920" y="461772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Multiplexes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2920" y="5010912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PVR &amp; INOX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502152" y="3383280"/>
            <a:ext cx="2697480" cy="2194560"/>
          </a:xfrm>
          <a:prstGeom prst="rect">
            <a:avLst/>
          </a:prstGeom>
          <a:solidFill>
            <a:srgbClr val="FBF7EF"/>
          </a:solidFill>
          <a:ln w="12700">
            <a:solidFill>
              <a:srgbClr val="E6D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02152" y="370332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A98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107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3502152" y="461772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502152" y="5010912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the network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501384" y="3383280"/>
            <a:ext cx="2697480" cy="2194560"/>
          </a:xfrm>
          <a:prstGeom prst="rect">
            <a:avLst/>
          </a:prstGeom>
          <a:solidFill>
            <a:srgbClr val="FBF7EF"/>
          </a:solidFill>
          <a:ln w="12700">
            <a:solidFill>
              <a:srgbClr val="E6D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01384" y="370332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A98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~20,000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6501384" y="461772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Seats / show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501384" y="5010912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capacity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500616" y="3383280"/>
            <a:ext cx="2697480" cy="2194560"/>
          </a:xfrm>
          <a:prstGeom prst="rect">
            <a:avLst/>
          </a:prstGeom>
          <a:solidFill>
            <a:srgbClr val="FBF7EF"/>
          </a:solidFill>
          <a:ln w="12700">
            <a:solidFill>
              <a:srgbClr val="E6D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00616" y="370332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A98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8×8 ft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9500616" y="461772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Foyer stall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500616" y="5010912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6-week window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A98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MULTIPLEX ACTIVATION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Brand presence in the cinema foyer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554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2A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8x8 ft Doft activation stall in the foyer, seen by every patron entering, waiting and exiting: high dwell time, a festive gifting mindset, live sampling and direct sales.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2331720"/>
            <a:ext cx="3611880" cy="3200400"/>
          </a:xfrm>
          <a:prstGeom prst="rect">
            <a:avLst/>
          </a:prstGeom>
          <a:solidFill>
            <a:srgbClr val="E7E2D8"/>
          </a:solidFill>
          <a:ln w="12700">
            <a:solidFill>
              <a:srgbClr val="E6DECB"/>
            </a:solidFill>
            <a:prstDash val="solid"/>
          </a:ln>
        </p:spPr>
      </p:sp>
      <p:pic>
        <p:nvPicPr>
          <p:cNvPr id="6" name="Image 0" descr="ref_imgs/cinema_s6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76072" y="2404872"/>
            <a:ext cx="3465576" cy="305409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389120" y="2331720"/>
            <a:ext cx="3611880" cy="3200400"/>
          </a:xfrm>
          <a:prstGeom prst="rect">
            <a:avLst/>
          </a:prstGeom>
          <a:solidFill>
            <a:srgbClr val="E7E2D8"/>
          </a:solidFill>
          <a:ln w="12700">
            <a:solidFill>
              <a:srgbClr val="E6DECB"/>
            </a:solidFill>
            <a:prstDash val="solid"/>
          </a:ln>
        </p:spPr>
      </p:sp>
      <p:pic>
        <p:nvPicPr>
          <p:cNvPr id="8" name="Image 1" descr="ref_imgs/cinema_s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462272" y="2404872"/>
            <a:ext cx="3465576" cy="3054096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8275320" y="2331720"/>
            <a:ext cx="3611880" cy="3200400"/>
          </a:xfrm>
          <a:prstGeom prst="rect">
            <a:avLst/>
          </a:prstGeom>
          <a:solidFill>
            <a:srgbClr val="E7E2D8"/>
          </a:solidFill>
          <a:ln w="12700">
            <a:solidFill>
              <a:srgbClr val="E6DECB"/>
            </a:solidFill>
            <a:prstDash val="solid"/>
          </a:ln>
        </p:spPr>
      </p:sp>
      <p:pic>
        <p:nvPicPr>
          <p:cNvPr id="10" name="Image 2" descr="ref_imgs/cinema_s4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348472" y="2404872"/>
            <a:ext cx="3465576" cy="305409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02920" y="564184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foyer activations  ·  PVR / INOX network</a:t>
            </a:r>
            <a:endParaRPr lang="en-US" sz="1150" dirty="0"/>
          </a:p>
        </p:txBody>
      </p:sp>
      <p:sp>
        <p:nvSpPr>
          <p:cNvPr id="12" name="Text 7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13" name="Text 8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A98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NETWORK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premium multiplexes, pan-India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556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566160"/>
                <a:gridCol w="1554480"/>
                <a:gridCol w="1737360"/>
                <a:gridCol w="15544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6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Multiplex / Cinema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6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Screens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6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Seats / show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6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62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Mumbai · Lower Parel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PVR Phoenix (Worli)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8×8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Mumbai · BKC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PVR Maison BKC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6×6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Ahmedabad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PVR Palladium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8×8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Delhi · Saket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PVR Select Citywalk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8×8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Noida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PVR DT · Mall of India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8×8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Gurgaon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PVR Ambience Mall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8×8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Chandigarh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PVR Nexus Elante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6×6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Lucknow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PVR Superplex · Lulu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8×8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Kolkata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INOX City Centre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8×8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Kolkata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INOX City Centre II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8×8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Hyderabad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PVR Icon · Hitech City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8×8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Bengaluru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PVR Phoenix Market City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6×6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Chennai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INOX Luxe · Phoenix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6×6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Kochi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PVR Lulu Mall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6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8×8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172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98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Totals:  </a:t>
            </a:r>
            <a:pPr indent="0" marL="0">
              <a:buNone/>
            </a:pPr>
            <a:r>
              <a:rPr lang="en-US" sz="1200" dirty="0">
                <a:solidFill>
                  <a:srgbClr val="2A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multiplexes  ·  107 screens  ·  ~20,000 seats per show  (PVR + INOX)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A98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14-CITY  ·  42-DAY ACTIVATION PROGRAM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Activation Cost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05840" y="1828800"/>
            <a:ext cx="6400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A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Kiosk setup &amp; build  (14 kiosks)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498080" y="1828800"/>
            <a:ext cx="3657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A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₹77,57,600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005840" y="2267712"/>
            <a:ext cx="10149840" cy="0"/>
          </a:xfrm>
          <a:prstGeom prst="line">
            <a:avLst/>
          </a:prstGeom>
          <a:noFill/>
          <a:ln w="9525">
            <a:solidFill>
              <a:srgbClr val="E6DE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340864"/>
            <a:ext cx="6400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A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Manpower  (sales, billing, supervision, city managers)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498080" y="2340864"/>
            <a:ext cx="3657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A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₹1,70,38,000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005840" y="2779776"/>
            <a:ext cx="10149840" cy="0"/>
          </a:xfrm>
          <a:prstGeom prst="line">
            <a:avLst/>
          </a:prstGeom>
          <a:noFill/>
          <a:ln w="9525">
            <a:solidFill>
              <a:srgbClr val="E6D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852928"/>
            <a:ext cx="6400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A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elements  (logistics, insurance, hardware, operations)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498080" y="2852928"/>
            <a:ext cx="3657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A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₹65,52,000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005840" y="3291840"/>
            <a:ext cx="10149840" cy="0"/>
          </a:xfrm>
          <a:prstGeom prst="line">
            <a:avLst/>
          </a:prstGeom>
          <a:noFill/>
          <a:ln w="9525">
            <a:solidFill>
              <a:srgbClr val="E6DE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3364992"/>
            <a:ext cx="6400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Sub-total  (ex-GST)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498080" y="3364992"/>
            <a:ext cx="3657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₹3,13,47,600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1005840" y="3803904"/>
            <a:ext cx="10149840" cy="0"/>
          </a:xfrm>
          <a:prstGeom prst="line">
            <a:avLst/>
          </a:prstGeom>
          <a:noFill/>
          <a:ln w="9525">
            <a:solidFill>
              <a:srgbClr val="E6DE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3877056"/>
            <a:ext cx="6400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A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Agency fee  (10%)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498080" y="3877056"/>
            <a:ext cx="3657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A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₹31,34,760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005840" y="4315968"/>
            <a:ext cx="10149840" cy="0"/>
          </a:xfrm>
          <a:prstGeom prst="line">
            <a:avLst/>
          </a:prstGeom>
          <a:noFill/>
          <a:ln w="9525">
            <a:solidFill>
              <a:srgbClr val="E6DEC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4389120"/>
            <a:ext cx="6400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A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  (18%)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498080" y="4389120"/>
            <a:ext cx="3657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A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₹62,06,825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1005840" y="4828032"/>
            <a:ext cx="10149840" cy="0"/>
          </a:xfrm>
          <a:prstGeom prst="line">
            <a:avLst/>
          </a:prstGeom>
          <a:noFill/>
          <a:ln w="9525">
            <a:solidFill>
              <a:srgbClr val="E6DE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5840" y="4946904"/>
            <a:ext cx="10149840" cy="694944"/>
          </a:xfrm>
          <a:prstGeom prst="rect">
            <a:avLst/>
          </a:prstGeom>
          <a:solidFill>
            <a:srgbClr val="2B2621"/>
          </a:solidFill>
          <a:ln/>
        </p:spPr>
      </p:sp>
      <p:sp>
        <p:nvSpPr>
          <p:cNvPr id="23" name="Text 21"/>
          <p:cNvSpPr/>
          <p:nvPr/>
        </p:nvSpPr>
        <p:spPr>
          <a:xfrm>
            <a:off x="1234440" y="4946904"/>
            <a:ext cx="640080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 (incl. GST)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680960" y="4946904"/>
            <a:ext cx="32461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300" b="1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₹4,06,89,185</a:t>
            </a:r>
            <a:endParaRPr lang="en-US" sz="2300" dirty="0"/>
          </a:p>
        </p:txBody>
      </p:sp>
      <p:sp>
        <p:nvSpPr>
          <p:cNvPr id="25" name="Text 23"/>
          <p:cNvSpPr/>
          <p:nvPr/>
        </p:nvSpPr>
        <p:spPr>
          <a:xfrm>
            <a:off x="1005840" y="5888736"/>
            <a:ext cx="10149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Turnkey operations for all 14 cities across the 42-day program. Add a media option (Multiplex or Atrium) for the all-in cost.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A98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14-CITY  ·  42-DAY ACTIVATION PROGRAM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Multiplex Option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05840" y="1828800"/>
            <a:ext cx="6400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A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Cinema-foyer media  ·  14 PVR / INOX sites × ₹3,00,000 (6 wk)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498080" y="1828800"/>
            <a:ext cx="3657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A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₹42,00,000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005840" y="2267712"/>
            <a:ext cx="10149840" cy="0"/>
          </a:xfrm>
          <a:prstGeom prst="line">
            <a:avLst/>
          </a:prstGeom>
          <a:noFill/>
          <a:ln w="9525">
            <a:solidFill>
              <a:srgbClr val="E6DE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340864"/>
            <a:ext cx="6400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A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  (18%)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498080" y="2340864"/>
            <a:ext cx="3657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A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₹7,56,000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005840" y="2779776"/>
            <a:ext cx="10149840" cy="0"/>
          </a:xfrm>
          <a:prstGeom prst="line">
            <a:avLst/>
          </a:prstGeom>
          <a:noFill/>
          <a:ln w="9525">
            <a:solidFill>
              <a:srgbClr val="E6D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852928"/>
            <a:ext cx="6400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 sub-total  (incl. GST)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498080" y="2852928"/>
            <a:ext cx="3657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₹49,56,000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05840" y="3291840"/>
            <a:ext cx="10149840" cy="0"/>
          </a:xfrm>
          <a:prstGeom prst="line">
            <a:avLst/>
          </a:prstGeom>
          <a:noFill/>
          <a:ln w="9525">
            <a:solidFill>
              <a:srgbClr val="E6DE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3364992"/>
            <a:ext cx="6400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A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 (incl. GST, from Activation Cost)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498080" y="3364992"/>
            <a:ext cx="3657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A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₹4,06,89,185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1005840" y="3803904"/>
            <a:ext cx="10149840" cy="0"/>
          </a:xfrm>
          <a:prstGeom prst="line">
            <a:avLst/>
          </a:prstGeom>
          <a:noFill/>
          <a:ln w="9525">
            <a:solidFill>
              <a:srgbClr val="E6DEC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5840" y="3922776"/>
            <a:ext cx="10149840" cy="694944"/>
          </a:xfrm>
          <a:prstGeom prst="rect">
            <a:avLst/>
          </a:prstGeom>
          <a:solidFill>
            <a:srgbClr val="2B2621"/>
          </a:solidFill>
          <a:ln/>
        </p:spPr>
      </p:sp>
      <p:sp>
        <p:nvSpPr>
          <p:cNvPr id="17" name="Text 15"/>
          <p:cNvSpPr/>
          <p:nvPr/>
        </p:nvSpPr>
        <p:spPr>
          <a:xfrm>
            <a:off x="1234440" y="3922776"/>
            <a:ext cx="640080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Programme total, Multiplex  (incl. GST)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680960" y="3922776"/>
            <a:ext cx="32461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300" b="1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₹4,56,45,185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1005840" y="4864608"/>
            <a:ext cx="10149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PVR / INOX foyer activation, managed by ProMarcom. 100% advance; availability to be confirmed; rates subject to change.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A98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14-CITY  ·  42-DAY ACTIVATION PROGRAM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Atrium Option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05840" y="1828800"/>
            <a:ext cx="6400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A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Mall-atrium media  ·  14 malls, per rate card (ex-GST)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498080" y="1828800"/>
            <a:ext cx="3657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A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₹1,45,11,750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005840" y="2267712"/>
            <a:ext cx="10149840" cy="0"/>
          </a:xfrm>
          <a:prstGeom prst="line">
            <a:avLst/>
          </a:prstGeom>
          <a:noFill/>
          <a:ln w="9525">
            <a:solidFill>
              <a:srgbClr val="E6DE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340864"/>
            <a:ext cx="6400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A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  (18%)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498080" y="2340864"/>
            <a:ext cx="3657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A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₹26,12,115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005840" y="2779776"/>
            <a:ext cx="10149840" cy="0"/>
          </a:xfrm>
          <a:prstGeom prst="line">
            <a:avLst/>
          </a:prstGeom>
          <a:noFill/>
          <a:ln w="9525">
            <a:solidFill>
              <a:srgbClr val="E6D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852928"/>
            <a:ext cx="6400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 sub-total  (incl. GST)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498080" y="2852928"/>
            <a:ext cx="3657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₹1,71,23,865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05840" y="3291840"/>
            <a:ext cx="10149840" cy="0"/>
          </a:xfrm>
          <a:prstGeom prst="line">
            <a:avLst/>
          </a:prstGeom>
          <a:noFill/>
          <a:ln w="9525">
            <a:solidFill>
              <a:srgbClr val="E6DE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3364992"/>
            <a:ext cx="6400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A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 (incl. GST, from Activation Cost)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498080" y="3364992"/>
            <a:ext cx="3657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A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₹4,06,89,185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1005840" y="3803904"/>
            <a:ext cx="10149840" cy="0"/>
          </a:xfrm>
          <a:prstGeom prst="line">
            <a:avLst/>
          </a:prstGeom>
          <a:noFill/>
          <a:ln w="9525">
            <a:solidFill>
              <a:srgbClr val="E6DEC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5840" y="3922776"/>
            <a:ext cx="10149840" cy="694944"/>
          </a:xfrm>
          <a:prstGeom prst="rect">
            <a:avLst/>
          </a:prstGeom>
          <a:solidFill>
            <a:srgbClr val="2B2621"/>
          </a:solidFill>
          <a:ln/>
        </p:spPr>
      </p:sp>
      <p:sp>
        <p:nvSpPr>
          <p:cNvPr id="17" name="Text 15"/>
          <p:cNvSpPr/>
          <p:nvPr/>
        </p:nvSpPr>
        <p:spPr>
          <a:xfrm>
            <a:off x="1234440" y="3922776"/>
            <a:ext cx="640080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Programme total, Atrium  (incl. GST)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680960" y="3922776"/>
            <a:ext cx="32461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300" b="1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₹5,78,13,050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1005840" y="4864608"/>
            <a:ext cx="10149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Mall-atrium activation at the 14 preferred malls. Several locations subject to availability; rates indicative, per the rate card.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FE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A98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TURNKEY SCOPE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ProMarcom runs the whole programme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828800"/>
            <a:ext cx="35204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DE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148840"/>
            <a:ext cx="457200" cy="457200"/>
          </a:xfrm>
          <a:prstGeom prst="ellipse">
            <a:avLst/>
          </a:prstGeom>
          <a:solidFill>
            <a:srgbClr val="2B2621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148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17320" y="208483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Kiosk build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17320" y="2487168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Fabrication to the approved design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5204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DE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7720" y="2148840"/>
            <a:ext cx="457200" cy="457200"/>
          </a:xfrm>
          <a:prstGeom prst="ellipse">
            <a:avLst/>
          </a:prstGeom>
          <a:solidFill>
            <a:srgbClr val="2B2621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2148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257800" y="208483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Transport &amp; install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257800" y="2487168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Delivery, on-site setup &amp; finishing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83880" y="1828800"/>
            <a:ext cx="35204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DEC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58200" y="2148840"/>
            <a:ext cx="457200" cy="457200"/>
          </a:xfrm>
          <a:prstGeom prst="ellipse">
            <a:avLst/>
          </a:prstGeom>
          <a:solidFill>
            <a:srgbClr val="2B2621"/>
          </a:solidFill>
          <a:ln/>
        </p:spPr>
      </p:sp>
      <p:sp>
        <p:nvSpPr>
          <p:cNvPr id="16" name="Text 14"/>
          <p:cNvSpPr/>
          <p:nvPr/>
        </p:nvSpPr>
        <p:spPr>
          <a:xfrm>
            <a:off x="8458200" y="2148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098280" y="208483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Manpower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098280" y="2487168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Sales, billing, supervision, city managers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3749040"/>
            <a:ext cx="35204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DE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4069080"/>
            <a:ext cx="457200" cy="457200"/>
          </a:xfrm>
          <a:prstGeom prst="ellipse">
            <a:avLst/>
          </a:prstGeom>
          <a:solidFill>
            <a:srgbClr val="2B2621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417320" y="40050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Logistics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417320" y="4407408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movement &amp; replenishment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343400" y="3749040"/>
            <a:ext cx="35204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DEC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17720" y="4069080"/>
            <a:ext cx="457200" cy="457200"/>
          </a:xfrm>
          <a:prstGeom prst="ellipse">
            <a:avLst/>
          </a:prstGeom>
          <a:solidFill>
            <a:srgbClr val="2B2621"/>
          </a:solidFill>
          <a:ln/>
        </p:spPr>
      </p:sp>
      <p:sp>
        <p:nvSpPr>
          <p:cNvPr id="26" name="Text 24"/>
          <p:cNvSpPr/>
          <p:nvPr/>
        </p:nvSpPr>
        <p:spPr>
          <a:xfrm>
            <a:off x="46177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257800" y="40050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Licences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257800" y="4407408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Mall space negotiation &amp; permissions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183880" y="3749040"/>
            <a:ext cx="35204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DEC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458200" y="4069080"/>
            <a:ext cx="457200" cy="457200"/>
          </a:xfrm>
          <a:prstGeom prst="ellipse">
            <a:avLst/>
          </a:prstGeom>
          <a:solidFill>
            <a:srgbClr val="2B2621"/>
          </a:solidFill>
          <a:ln/>
        </p:spPr>
      </p:sp>
      <p:sp>
        <p:nvSpPr>
          <p:cNvPr id="31" name="Text 29"/>
          <p:cNvSpPr/>
          <p:nvPr/>
        </p:nvSpPr>
        <p:spPr>
          <a:xfrm>
            <a:off x="845820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9098280" y="40050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Daily operations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9098280" y="4407408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Reporting, cash management, upkeep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7200" y="64190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pPr algn="l" indent="0" marL="0">
              <a:buNone/>
            </a:pPr>
            <a:r>
              <a:rPr lang="en-US" sz="950" spc="100" kern="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SCENTED MEMORIES  ·  Diwali Pop-Up Kiosk Concept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10058400" y="6419088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5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11475720" y="6364224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6A24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475720" y="6364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1B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f_imgs/P1_s2_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09360" y="0"/>
            <a:ext cx="1828800" cy="6858000"/>
          </a:xfrm>
          <a:prstGeom prst="rect">
            <a:avLst/>
          </a:prstGeom>
          <a:solidFill>
            <a:srgbClr val="1E1B17">
              <a:alpha val="6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6309360" cy="6858000"/>
          </a:xfrm>
          <a:prstGeom prst="rect">
            <a:avLst/>
          </a:prstGeom>
          <a:solidFill>
            <a:srgbClr val="1E1B17"/>
          </a:solidFill>
          <a:ln/>
        </p:spPr>
      </p:sp>
      <p:sp>
        <p:nvSpPr>
          <p:cNvPr id="5" name="Shap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6A24E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spc="500" kern="0" dirty="0">
                <a:solidFill>
                  <a:srgbClr val="C6A2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758952" y="2148840"/>
            <a:ext cx="5120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light up Diwali.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822960" y="3429000"/>
            <a:ext cx="2011680" cy="0"/>
          </a:xfrm>
          <a:prstGeom prst="line">
            <a:avLst/>
          </a:prstGeom>
          <a:noFill/>
          <a:ln w="19050">
            <a:solidFill>
              <a:srgbClr val="C6A24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3703320"/>
            <a:ext cx="52120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C6A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8C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commercial proposal &amp; costing: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8C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setup, manpower, location charges, logistics, insurance &amp; hardware.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77240" y="5577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ProMarcom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95528" y="60350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activation · pop-up · experiential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ProMarcom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ProMarcom</dc:creator>
  <cp:lastModifiedBy>ProMarcom</cp:lastModifiedBy>
  <cp:revision>1</cp:revision>
  <dcterms:created xsi:type="dcterms:W3CDTF">2026-08-18T06:37:52Z</dcterms:created>
  <dcterms:modified xsi:type="dcterms:W3CDTF">2026-08-18T06:37:52Z</dcterms:modified>
</cp:coreProperties>
</file>