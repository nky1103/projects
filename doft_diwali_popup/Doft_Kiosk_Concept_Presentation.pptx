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— DOFT Diwali Pop-Up Retail Kiosk concept, premium home-fragrance island, 8x8 ft, 14 malls, presented by ProMarcom.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opportunity — premium home fragrance brand, Diwali gifting, 14 malls, 8x8 kiosk, turnkey.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concept — the DOFT Island: premium build language + Doft green/gold identity + warm backlit totem + built-in storage.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layout — dimensioned 2D plan of the 8x8 island: U-counter, central totem, lockable storage, cash safe, staff entry, seating.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Materials — emerald lacquer, brushed gold, white lacquer, cream marble, warm LED, charcoal.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 story — candles, gift hampers, reed diffusers, room sprays &amp; wax melts merchandised on backlit shelving.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malls pan-India as per revised client list. Same window; select extend to Xmas/NY.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Turnkey scope — design, build/install, manpower, logistics, licences, daily operations &amp;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— next step is the detailed commercial proposal &amp; costing (separate workbook).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D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_D_her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0"/>
            <a:ext cx="80768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1E4D39"/>
          </a:solidFill>
          <a:ln/>
        </p:spPr>
      </p:sp>
      <p:sp>
        <p:nvSpPr>
          <p:cNvPr id="4" name="Shape 1"/>
          <p:cNvSpPr/>
          <p:nvPr/>
        </p:nvSpPr>
        <p:spPr>
          <a:xfrm>
            <a:off x="6035040" y="0"/>
            <a:ext cx="2377440" cy="6858000"/>
          </a:xfrm>
          <a:prstGeom prst="rect">
            <a:avLst/>
          </a:prstGeom>
          <a:solidFill>
            <a:srgbClr val="1E4D39">
              <a:alpha val="65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6A24E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14300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600" b="1" spc="6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endParaRPr lang="en-US" sz="6600" dirty="0"/>
          </a:p>
        </p:txBody>
      </p:sp>
      <p:sp>
        <p:nvSpPr>
          <p:cNvPr id="7" name="Text 4"/>
          <p:cNvSpPr/>
          <p:nvPr/>
        </p:nvSpPr>
        <p:spPr>
          <a:xfrm>
            <a:off x="868680" y="22402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600" kern="0" dirty="0">
                <a:solidFill>
                  <a:srgbClr val="E7D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SCENTED MEMORIES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22960" y="2880360"/>
            <a:ext cx="2194560" cy="0"/>
          </a:xfrm>
          <a:prstGeom prst="line">
            <a:avLst/>
          </a:prstGeom>
          <a:noFill/>
          <a:ln w="19050">
            <a:solidFill>
              <a:srgbClr val="C6A2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310896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Diwali Pop-Up Retail Kiosk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795528" y="4343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D9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Design  ·  Premium home-fragrance island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795528" y="4846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ft × 8 ft</a:t>
            </a:r>
            <a:pPr indent="0" marL="0">
              <a:buNone/>
            </a:pPr>
            <a:r>
              <a:rPr lang="en-US" sz="1400" dirty="0">
                <a:solidFill>
                  <a:srgbClr val="CFDA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14 malls   ·   ~6 weeks festive window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95528" y="5806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9B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77240" y="605332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ProMarcom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6766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premium festive stage for Doft Candles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2286000"/>
            <a:ext cx="6126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C2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Doft Candles is a premium home-fragrance brand. For the Diwali gifting season we take the brand into India's highest-footfall malls with a turnkey pop-up retail kiosk — a compact, luxurious island that sells and tells the Doft story.
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4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range: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C2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scented candles · reed diffusers · room sprays · wax melts · premium gift hampers.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040880" y="960120"/>
            <a:ext cx="2331720" cy="2148840"/>
          </a:xfrm>
          <a:prstGeom prst="rect">
            <a:avLst/>
          </a:prstGeom>
          <a:solidFill>
            <a:srgbClr val="FCF8EF"/>
          </a:solidFill>
          <a:ln w="12700">
            <a:solidFill>
              <a:srgbClr val="E4DCC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0" y="123444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98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178040" y="219456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1E4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malls</a:t>
            </a:r>
            <a:endParaRPr lang="en-US" sz="12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1E4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Pan-India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692640" y="960120"/>
            <a:ext cx="2331720" cy="2148840"/>
          </a:xfrm>
          <a:prstGeom prst="rect">
            <a:avLst/>
          </a:prstGeom>
          <a:solidFill>
            <a:srgbClr val="FCF8EF"/>
          </a:solidFill>
          <a:ln w="12700">
            <a:solidFill>
              <a:srgbClr val="E4DC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92640" y="123444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98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8×8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9829800" y="219456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1E4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Feet island</a:t>
            </a:r>
            <a:endParaRPr lang="en-US" sz="12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1E4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sq ft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040880" y="3429000"/>
            <a:ext cx="2331720" cy="2148840"/>
          </a:xfrm>
          <a:prstGeom prst="rect">
            <a:avLst/>
          </a:prstGeom>
          <a:solidFill>
            <a:srgbClr val="FCF8EF"/>
          </a:solidFill>
          <a:ln w="12700">
            <a:solidFill>
              <a:srgbClr val="E4DC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370332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98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7178040" y="466344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1E4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festive</a:t>
            </a:r>
            <a:endParaRPr lang="en-US" sz="12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1E4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Xmas / NY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692640" y="3429000"/>
            <a:ext cx="2331720" cy="2148840"/>
          </a:xfrm>
          <a:prstGeom prst="rect">
            <a:avLst/>
          </a:prstGeom>
          <a:solidFill>
            <a:srgbClr val="FCF8EF"/>
          </a:solidFill>
          <a:ln w="12700">
            <a:solidFill>
              <a:srgbClr val="E4DC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92640" y="370332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98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Turnkey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829800" y="466344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1E4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→ build →</a:t>
            </a:r>
            <a:endParaRPr lang="en-US" sz="12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1E4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CONCEPT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DOFT Island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C2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premium open island that reads unmistakably Doft from every aisle — luxury build language wrapped in the brand's own green-and-gold identity.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3108960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971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Warm-backlit brand totem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3282696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Illuminated DOFT seal rising above the counter — a beacon across the mall court.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3931920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79476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White lacquer + brushed gold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77240" y="4105656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Fluted, backlit bases and gold-framed glass showcases for a jewellery-counter feel.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4754880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46177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Emerald brand niches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77240" y="4928616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Backlit green display bays carry Doft's signature retail colour and warm product glow.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5577840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54406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Designed to sell &amp; store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77240" y="5751576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Lockable stock storage, cash safe and staff seating built in — clean front, working back.</a:t>
            </a:r>
            <a:endParaRPr lang="en-US" sz="1150" dirty="0"/>
          </a:p>
        </p:txBody>
      </p:sp>
      <p:pic>
        <p:nvPicPr>
          <p:cNvPr id="18" name="Image 0" descr="r_D_r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685800"/>
            <a:ext cx="6126480" cy="54864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97680" y="0"/>
            <a:ext cx="7894015" cy="6858000"/>
          </a:xfrm>
          <a:prstGeom prst="rect">
            <a:avLst/>
          </a:prstGeom>
          <a:solidFill>
            <a:srgbClr val="EFEBE1"/>
          </a:solidFill>
          <a:ln/>
        </p:spPr>
      </p:sp>
      <p:pic>
        <p:nvPicPr>
          <p:cNvPr id="3" name="Image 0" descr="r_D_lef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434840" y="457200"/>
            <a:ext cx="7619695" cy="5669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1E4D39"/>
          </a:solidFill>
          <a:ln/>
        </p:spPr>
      </p:sp>
      <p:sp>
        <p:nvSpPr>
          <p:cNvPr id="5" name="Shape 2"/>
          <p:cNvSpPr/>
          <p:nvPr/>
        </p:nvSpPr>
        <p:spPr>
          <a:xfrm>
            <a:off x="4261104" y="0"/>
            <a:ext cx="36576" cy="6858000"/>
          </a:xfrm>
          <a:prstGeom prst="rect">
            <a:avLst/>
          </a:prstGeom>
          <a:solidFill>
            <a:srgbClr val="C6A24E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8686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· ELEVATION A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02920" y="123444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three-quarter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502920" y="2697480"/>
            <a:ext cx="822960" cy="0"/>
          </a:xfrm>
          <a:prstGeom prst="line">
            <a:avLst/>
          </a:prstGeom>
          <a:noFill/>
          <a:ln w="19050">
            <a:solidFill>
              <a:srgbClr val="C6A2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297180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DE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White-lacquer body with brushed-gold reveals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3630168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DE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Warm-backlit fluted base panels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02920" y="4288536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DE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Gold-framed glass showcases with candles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02920" y="4946904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DE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DOFT wordmark on every customer face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894015" cy="6858000"/>
          </a:xfrm>
          <a:prstGeom prst="rect">
            <a:avLst/>
          </a:prstGeom>
          <a:solidFill>
            <a:srgbClr val="EFEBE1"/>
          </a:solidFill>
          <a:ln/>
        </p:spPr>
      </p:sp>
      <p:pic>
        <p:nvPicPr>
          <p:cNvPr id="3" name="Image 0" descr="r_D_r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" y="457200"/>
            <a:ext cx="7619695" cy="5669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894015" y="0"/>
            <a:ext cx="4297680" cy="6858000"/>
          </a:xfrm>
          <a:prstGeom prst="rect">
            <a:avLst/>
          </a:prstGeom>
          <a:solidFill>
            <a:srgbClr val="1E4D39"/>
          </a:solidFill>
          <a:ln/>
        </p:spPr>
      </p:sp>
      <p:sp>
        <p:nvSpPr>
          <p:cNvPr id="5" name="Shape 2"/>
          <p:cNvSpPr/>
          <p:nvPr/>
        </p:nvSpPr>
        <p:spPr>
          <a:xfrm>
            <a:off x="7894015" y="0"/>
            <a:ext cx="36576" cy="6858000"/>
          </a:xfrm>
          <a:prstGeom prst="rect">
            <a:avLst/>
          </a:prstGeom>
          <a:solidFill>
            <a:srgbClr val="C6A24E"/>
          </a:solidFill>
          <a:ln/>
        </p:spPr>
      </p:sp>
      <p:sp>
        <p:nvSpPr>
          <p:cNvPr id="6" name="Text 3"/>
          <p:cNvSpPr/>
          <p:nvPr/>
        </p:nvSpPr>
        <p:spPr>
          <a:xfrm>
            <a:off x="8396935" y="8686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· ELEVATION B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396935" y="123444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 three-quarter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8396935" y="2697480"/>
            <a:ext cx="822960" cy="0"/>
          </a:xfrm>
          <a:prstGeom prst="line">
            <a:avLst/>
          </a:prstGeom>
          <a:noFill/>
          <a:ln w="19050">
            <a:solidFill>
              <a:srgbClr val="C6A2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396935" y="297180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DE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Backlit emerald display niches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396935" y="3630168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DE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Illuminated DOFT seal totem beacon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396935" y="4288536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DE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Marble counter tops, brushed-gold trim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8396935" y="4946904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DE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Dried-floral styling — Doft's retail signature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97680" y="0"/>
            <a:ext cx="7894015" cy="6858000"/>
          </a:xfrm>
          <a:prstGeom prst="rect">
            <a:avLst/>
          </a:prstGeom>
          <a:solidFill>
            <a:srgbClr val="EFEBE1"/>
          </a:solidFill>
          <a:ln/>
        </p:spPr>
      </p:sp>
      <p:pic>
        <p:nvPicPr>
          <p:cNvPr id="3" name="Image 0" descr="r_D_l4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434840" y="457200"/>
            <a:ext cx="7619695" cy="5669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1E4D39"/>
          </a:solidFill>
          <a:ln/>
        </p:spPr>
      </p:sp>
      <p:sp>
        <p:nvSpPr>
          <p:cNvPr id="5" name="Shape 2"/>
          <p:cNvSpPr/>
          <p:nvPr/>
        </p:nvSpPr>
        <p:spPr>
          <a:xfrm>
            <a:off x="4261104" y="0"/>
            <a:ext cx="36576" cy="6858000"/>
          </a:xfrm>
          <a:prstGeom prst="rect">
            <a:avLst/>
          </a:prstGeom>
          <a:solidFill>
            <a:srgbClr val="C6A24E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8686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· INTERIOR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02920" y="123444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Cross-section · 45° left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502920" y="2697480"/>
            <a:ext cx="822960" cy="0"/>
          </a:xfrm>
          <a:prstGeom prst="line">
            <a:avLst/>
          </a:prstGeom>
          <a:noFill/>
          <a:ln w="19050">
            <a:solidFill>
              <a:srgbClr val="C6A2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297180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DE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Lockable under-counter stock storage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3630168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DE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bar stools for staff seating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02920" y="4288536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DE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Emerald staff-zone floor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02920" y="4946904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DE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stays clean &amp; fully branded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894015" cy="6858000"/>
          </a:xfrm>
          <a:prstGeom prst="rect">
            <a:avLst/>
          </a:prstGeom>
          <a:solidFill>
            <a:srgbClr val="EFEBE1"/>
          </a:solidFill>
          <a:ln/>
        </p:spPr>
      </p:sp>
      <p:pic>
        <p:nvPicPr>
          <p:cNvPr id="3" name="Image 0" descr="r_D_r4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" y="457200"/>
            <a:ext cx="7619695" cy="5669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894015" y="0"/>
            <a:ext cx="4297680" cy="6858000"/>
          </a:xfrm>
          <a:prstGeom prst="rect">
            <a:avLst/>
          </a:prstGeom>
          <a:solidFill>
            <a:srgbClr val="1E4D39"/>
          </a:solidFill>
          <a:ln/>
        </p:spPr>
      </p:sp>
      <p:sp>
        <p:nvSpPr>
          <p:cNvPr id="5" name="Shape 2"/>
          <p:cNvSpPr/>
          <p:nvPr/>
        </p:nvSpPr>
        <p:spPr>
          <a:xfrm>
            <a:off x="7894015" y="0"/>
            <a:ext cx="36576" cy="6858000"/>
          </a:xfrm>
          <a:prstGeom prst="rect">
            <a:avLst/>
          </a:prstGeom>
          <a:solidFill>
            <a:srgbClr val="C6A24E"/>
          </a:solidFill>
          <a:ln/>
        </p:spPr>
      </p:sp>
      <p:sp>
        <p:nvSpPr>
          <p:cNvPr id="6" name="Text 3"/>
          <p:cNvSpPr/>
          <p:nvPr/>
        </p:nvSpPr>
        <p:spPr>
          <a:xfrm>
            <a:off x="8396935" y="8686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· INTERIOR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396935" y="123444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Cross-section · 45° right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8396935" y="2697480"/>
            <a:ext cx="822960" cy="0"/>
          </a:xfrm>
          <a:prstGeom prst="line">
            <a:avLst/>
          </a:prstGeom>
          <a:noFill/>
          <a:ln w="19050">
            <a:solidFill>
              <a:srgbClr val="C6A2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396935" y="297180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DE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Lockable storage both sides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396935" y="3630168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DE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In-built cash safe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396935" y="4288536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DE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staff entry to the rear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8396935" y="4946904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DE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working island, premium storefront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LAYOUT · PLAN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ft × 8 ft island footprint</a:t>
            </a:r>
            <a:endParaRPr lang="en-US" sz="2800" dirty="0"/>
          </a:p>
        </p:txBody>
      </p:sp>
      <p:pic>
        <p:nvPicPr>
          <p:cNvPr id="4" name="Image 0" descr="view_kiosk_pl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7818120" cy="5120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549640" y="1417320"/>
            <a:ext cx="3154680" cy="4892040"/>
          </a:xfrm>
          <a:prstGeom prst="rect">
            <a:avLst/>
          </a:prstGeom>
          <a:solidFill>
            <a:srgbClr val="FCF8EF"/>
          </a:solidFill>
          <a:ln w="12700">
            <a:solidFill>
              <a:srgbClr val="E4DCC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823960" y="16002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ZONES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833104" y="2185416"/>
            <a:ext cx="128016" cy="128016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8" name="Text 5"/>
          <p:cNvSpPr/>
          <p:nvPr/>
        </p:nvSpPr>
        <p:spPr>
          <a:xfrm>
            <a:off x="9098280" y="2039112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U-shaped display counter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9098280" y="23317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three customer faces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833104" y="2971800"/>
            <a:ext cx="128016" cy="128016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1" name="Text 8"/>
          <p:cNvSpPr/>
          <p:nvPr/>
        </p:nvSpPr>
        <p:spPr>
          <a:xfrm>
            <a:off x="9098280" y="2825496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totem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9098280" y="31181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Backlit DOFT seal beacon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833104" y="3758184"/>
            <a:ext cx="128016" cy="128016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4" name="Text 11"/>
          <p:cNvSpPr/>
          <p:nvPr/>
        </p:nvSpPr>
        <p:spPr>
          <a:xfrm>
            <a:off x="9098280" y="361188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Lockable storage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9098280" y="390448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side runs + cash safe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833104" y="4544568"/>
            <a:ext cx="128016" cy="128016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7" name="Text 14"/>
          <p:cNvSpPr/>
          <p:nvPr/>
        </p:nvSpPr>
        <p:spPr>
          <a:xfrm>
            <a:off x="9098280" y="4398264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entry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9098280" y="46908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opening to the rear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833104" y="5330952"/>
            <a:ext cx="128016" cy="128016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0" name="Text 17"/>
          <p:cNvSpPr/>
          <p:nvPr/>
        </p:nvSpPr>
        <p:spPr>
          <a:xfrm>
            <a:off x="9098280" y="5184648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Seating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9098280" y="547725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bar stools inside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&amp; FINISHES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premium, warm material palette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3429000" cy="1234440"/>
          </a:xfrm>
          <a:prstGeom prst="rect">
            <a:avLst/>
          </a:prstGeom>
          <a:solidFill>
            <a:srgbClr val="1E4D39"/>
          </a:solidFill>
          <a:ln w="9525">
            <a:solidFill>
              <a:srgbClr val="E4DC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12724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Emerald lacquer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342900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niches &amp; fascia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89120" y="1828800"/>
            <a:ext cx="3429000" cy="1234440"/>
          </a:xfrm>
          <a:prstGeom prst="rect">
            <a:avLst/>
          </a:prstGeom>
          <a:solidFill>
            <a:srgbClr val="C6A24E"/>
          </a:solidFill>
          <a:ln w="9525">
            <a:solidFill>
              <a:srgbClr val="E4DC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312724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Brushed gold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89120" y="342900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Frames, trims &amp; reveals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75320" y="1828800"/>
            <a:ext cx="3429000" cy="1234440"/>
          </a:xfrm>
          <a:prstGeom prst="rect">
            <a:avLst/>
          </a:prstGeom>
          <a:solidFill>
            <a:srgbClr val="F0ECE3"/>
          </a:solidFill>
          <a:ln w="9525">
            <a:solidFill>
              <a:srgbClr val="E4DC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75320" y="312724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White lacquer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75320" y="342900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 &amp; totem body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251960"/>
            <a:ext cx="3429000" cy="1234440"/>
          </a:xfrm>
          <a:prstGeom prst="rect">
            <a:avLst/>
          </a:prstGeom>
          <a:solidFill>
            <a:srgbClr val="E7DECB"/>
          </a:solidFill>
          <a:ln w="9525">
            <a:solidFill>
              <a:srgbClr val="E4DC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555040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Cream marble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" y="585216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 tops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0" y="4251960"/>
            <a:ext cx="3429000" cy="1234440"/>
          </a:xfrm>
          <a:prstGeom prst="rect">
            <a:avLst/>
          </a:prstGeom>
          <a:solidFill>
            <a:srgbClr val="F3D9A6"/>
          </a:solidFill>
          <a:ln w="9525">
            <a:solidFill>
              <a:srgbClr val="E4DCC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555040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LED glow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89120" y="585216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Backlit reveals &amp; seal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75320" y="4251960"/>
            <a:ext cx="3429000" cy="1234440"/>
          </a:xfrm>
          <a:prstGeom prst="rect">
            <a:avLst/>
          </a:prstGeom>
          <a:solidFill>
            <a:srgbClr val="2C2924"/>
          </a:solidFill>
          <a:ln w="9525">
            <a:solidFill>
              <a:srgbClr val="E4DC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75320" y="555040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Charcoal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75320" y="585216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Skirting &amp; accents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4D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RANGE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Merchandising the Doft story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Backlit shelving and glass showcases stage the full gifting range at eye level.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2606040" cy="2331720"/>
          </a:xfrm>
          <a:prstGeom prst="rect">
            <a:avLst/>
          </a:prstGeom>
          <a:solidFill>
            <a:srgbClr val="FCF8EF"/>
          </a:solidFill>
          <a:ln w="12700">
            <a:solidFill>
              <a:srgbClr val="C6A24E"/>
            </a:solidFill>
            <a:prstDash val="solid"/>
          </a:ln>
        </p:spPr>
      </p:sp>
      <p:pic>
        <p:nvPicPr>
          <p:cNvPr id="6" name="Image 0" descr="brief_assets/DOFT/16871dda-65d9-4f51-acfd-b2b5ad6183e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" y="2258568"/>
            <a:ext cx="2386584" cy="1691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402336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Scented candles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429000" y="2148840"/>
            <a:ext cx="2606040" cy="2331720"/>
          </a:xfrm>
          <a:prstGeom prst="rect">
            <a:avLst/>
          </a:prstGeom>
          <a:solidFill>
            <a:srgbClr val="FCF8EF"/>
          </a:solidFill>
          <a:ln w="12700">
            <a:solidFill>
              <a:srgbClr val="C6A24E"/>
            </a:solidFill>
            <a:prstDash val="solid"/>
          </a:ln>
        </p:spPr>
      </p:sp>
      <p:pic>
        <p:nvPicPr>
          <p:cNvPr id="9" name="Image 1" descr="brief_assets/DOFT/5dc4e2f7-31d9-4a47-ba1e-1ed1f98adf47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538728" y="2258568"/>
            <a:ext cx="2386584" cy="16916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429000" y="402336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Gift hampers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355080" y="2148840"/>
            <a:ext cx="2606040" cy="2331720"/>
          </a:xfrm>
          <a:prstGeom prst="rect">
            <a:avLst/>
          </a:prstGeom>
          <a:solidFill>
            <a:srgbClr val="FCF8EF"/>
          </a:solidFill>
          <a:ln w="12700">
            <a:solidFill>
              <a:srgbClr val="C6A24E"/>
            </a:solidFill>
            <a:prstDash val="solid"/>
          </a:ln>
        </p:spPr>
      </p:sp>
      <p:pic>
        <p:nvPicPr>
          <p:cNvPr id="12" name="Image 2" descr="brief_assets/DOFT/14f3dd5c-717d-40c6-9314-74ee5f820af0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64808" y="2258568"/>
            <a:ext cx="2386584" cy="16916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355080" y="402336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Reed diffusers &amp; sprays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9281160" y="2148840"/>
            <a:ext cx="2606040" cy="2331720"/>
          </a:xfrm>
          <a:prstGeom prst="rect">
            <a:avLst/>
          </a:prstGeom>
          <a:solidFill>
            <a:srgbClr val="FCF8EF"/>
          </a:solidFill>
          <a:ln w="12700">
            <a:solidFill>
              <a:srgbClr val="C6A24E"/>
            </a:solidFill>
            <a:prstDash val="solid"/>
          </a:ln>
        </p:spPr>
      </p:sp>
      <p:pic>
        <p:nvPicPr>
          <p:cNvPr id="15" name="Image 3" descr="brief_assets/DOFT/66d435a3-c7c1-44d9-b723-01f7df92b433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390888" y="2258568"/>
            <a:ext cx="2386584" cy="169164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281160" y="402336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Festive gift boxes</a:t>
            </a:r>
            <a:endParaRPr lang="en-US" sz="1250" dirty="0"/>
          </a:p>
        </p:txBody>
      </p:sp>
      <p:sp>
        <p:nvSpPr>
          <p:cNvPr id="17" name="Text 11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18" name="Text 12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premium malls, pan-India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09928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5" name="Text 3"/>
          <p:cNvSpPr/>
          <p:nvPr/>
        </p:nvSpPr>
        <p:spPr>
          <a:xfrm>
            <a:off x="758952" y="157276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Delhi   </a:t>
            </a:r>
            <a:pPr indent="0" marL="0">
              <a:buNone/>
            </a:pPr>
            <a:r>
              <a:rPr lang="en-US" sz="13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Citywalk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2276856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213969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Noida   </a:t>
            </a:r>
            <a:pPr indent="0" marL="0">
              <a:buNone/>
            </a:pPr>
            <a:r>
              <a:rPr lang="en-US" sz="13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DLF Mall of India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843784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270662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Gurgaon   </a:t>
            </a:r>
            <a:pPr indent="0" marL="0">
              <a:buNone/>
            </a:pPr>
            <a:r>
              <a:rPr lang="en-US" sz="13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Ambience Mall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410712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327355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Chandigarh   </a:t>
            </a:r>
            <a:pPr indent="0" marL="0">
              <a:buNone/>
            </a:pPr>
            <a:r>
              <a:rPr lang="en-US" sz="13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Elante Mall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77640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Lucknow   </a:t>
            </a:r>
            <a:pPr indent="0" marL="0">
              <a:buNone/>
            </a:pPr>
            <a:r>
              <a:rPr lang="en-US" sz="13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Mall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389120" y="1709928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5" name="Text 13"/>
          <p:cNvSpPr/>
          <p:nvPr/>
        </p:nvSpPr>
        <p:spPr>
          <a:xfrm>
            <a:off x="4645152" y="157276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Mumbai · BKC   </a:t>
            </a:r>
            <a:pPr indent="0" marL="0">
              <a:buNone/>
            </a:pPr>
            <a:r>
              <a:rPr lang="en-US" sz="13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Jio World Mall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389120" y="2276856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7" name="Text 15"/>
          <p:cNvSpPr/>
          <p:nvPr/>
        </p:nvSpPr>
        <p:spPr>
          <a:xfrm>
            <a:off x="4645152" y="213969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Mumbai · Lower Parel   </a:t>
            </a:r>
            <a:pPr indent="0" marL="0">
              <a:buNone/>
            </a:pPr>
            <a:r>
              <a:rPr lang="en-US" sz="13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Mall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389120" y="2843784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9" name="Text 17"/>
          <p:cNvSpPr/>
          <p:nvPr/>
        </p:nvSpPr>
        <p:spPr>
          <a:xfrm>
            <a:off x="4645152" y="270662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Ahmedabad   </a:t>
            </a:r>
            <a:pPr indent="0" marL="0">
              <a:buNone/>
            </a:pPr>
            <a:r>
              <a:rPr lang="en-US" sz="13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Mall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389120" y="3410712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1" name="Text 19"/>
          <p:cNvSpPr/>
          <p:nvPr/>
        </p:nvSpPr>
        <p:spPr>
          <a:xfrm>
            <a:off x="4645152" y="327355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Nagpur   </a:t>
            </a:r>
            <a:pPr indent="0" marL="0">
              <a:buNone/>
            </a:pPr>
            <a:r>
              <a:rPr lang="en-US" sz="13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 Mall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389120" y="3977640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3" name="Text 21"/>
          <p:cNvSpPr/>
          <p:nvPr/>
        </p:nvSpPr>
        <p:spPr>
          <a:xfrm>
            <a:off x="4645152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Kolkata   </a:t>
            </a:r>
            <a:pPr indent="0" marL="0">
              <a:buNone/>
            </a:pPr>
            <a:r>
              <a:rPr lang="en-US" sz="13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City Mall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275320" y="1709928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5" name="Text 23"/>
          <p:cNvSpPr/>
          <p:nvPr/>
        </p:nvSpPr>
        <p:spPr>
          <a:xfrm>
            <a:off x="8531352" y="157276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Chennai   </a:t>
            </a:r>
            <a:pPr indent="0" marL="0">
              <a:buNone/>
            </a:pPr>
            <a:r>
              <a:rPr lang="en-US" sz="13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Marketcity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8275320" y="2276856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7" name="Text 25"/>
          <p:cNvSpPr/>
          <p:nvPr/>
        </p:nvSpPr>
        <p:spPr>
          <a:xfrm>
            <a:off x="8531352" y="213969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Bengaluru   </a:t>
            </a:r>
            <a:pPr indent="0" marL="0">
              <a:buNone/>
            </a:pPr>
            <a:r>
              <a:rPr lang="en-US" sz="13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Marketcity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8275320" y="2843784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9" name="Text 27"/>
          <p:cNvSpPr/>
          <p:nvPr/>
        </p:nvSpPr>
        <p:spPr>
          <a:xfrm>
            <a:off x="8531352" y="270662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Hyderabad   </a:t>
            </a:r>
            <a:pPr indent="0" marL="0">
              <a:buNone/>
            </a:pPr>
            <a:r>
              <a:rPr lang="en-US" sz="13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Mall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275320" y="3410712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31" name="Text 29"/>
          <p:cNvSpPr/>
          <p:nvPr/>
        </p:nvSpPr>
        <p:spPr>
          <a:xfrm>
            <a:off x="8531352" y="327355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Kochi   </a:t>
            </a:r>
            <a:pPr indent="0" marL="0">
              <a:buNone/>
            </a:pPr>
            <a:r>
              <a:rPr lang="en-US" sz="13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International Mall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02920" y="5806440"/>
            <a:ext cx="11155680" cy="502920"/>
          </a:xfrm>
          <a:prstGeom prst="rect">
            <a:avLst/>
          </a:prstGeom>
          <a:solidFill>
            <a:srgbClr val="FCF8EF"/>
          </a:solidFill>
          <a:ln w="12700">
            <a:solidFill>
              <a:srgbClr val="E4DCC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580644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4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festive window across all locations.  </a:t>
            </a:r>
            <a:pPr indent="0" marL="0">
              <a:buNone/>
            </a:pPr>
            <a:r>
              <a:rPr lang="en-US" sz="1250" dirty="0">
                <a:solidFill>
                  <a:srgbClr val="2C2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high-performing malls extended through Christmas &amp; New Year.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SCOPE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ProMarcom runs the whole programme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CC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48840"/>
            <a:ext cx="457200" cy="457200"/>
          </a:xfrm>
          <a:prstGeom prst="ellipse">
            <a:avLst/>
          </a:prstGeom>
          <a:solidFill>
            <a:srgbClr val="1E4D3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20848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Kiosk design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48716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Concept, 3D &amp; GA drawings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C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148840"/>
            <a:ext cx="457200" cy="457200"/>
          </a:xfrm>
          <a:prstGeom prst="ellipse">
            <a:avLst/>
          </a:prstGeom>
          <a:solidFill>
            <a:srgbClr val="1E4D39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257800" y="20848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&amp; install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257800" y="248716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Fabrication, transport, on-site setup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83880" y="182880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CC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58200" y="2148840"/>
            <a:ext cx="457200" cy="457200"/>
          </a:xfrm>
          <a:prstGeom prst="ellipse">
            <a:avLst/>
          </a:prstGeom>
          <a:solidFill>
            <a:srgbClr val="1E4D39"/>
          </a:solidFill>
          <a:ln/>
        </p:spPr>
      </p:sp>
      <p:sp>
        <p:nvSpPr>
          <p:cNvPr id="16" name="Text 14"/>
          <p:cNvSpPr/>
          <p:nvPr/>
        </p:nvSpPr>
        <p:spPr>
          <a:xfrm>
            <a:off x="845820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098280" y="20848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Manpower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98280" y="248716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Sales, billing, supervision, city managers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374904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C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069080"/>
            <a:ext cx="457200" cy="457200"/>
          </a:xfrm>
          <a:prstGeom prst="ellipse">
            <a:avLst/>
          </a:prstGeom>
          <a:solidFill>
            <a:srgbClr val="1E4D39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17320" y="40050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17320" y="440740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movement &amp; replenishment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43400" y="374904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CC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17720" y="4069080"/>
            <a:ext cx="457200" cy="457200"/>
          </a:xfrm>
          <a:prstGeom prst="ellipse">
            <a:avLst/>
          </a:prstGeom>
          <a:solidFill>
            <a:srgbClr val="1E4D39"/>
          </a:solidFill>
          <a:ln/>
        </p:spPr>
      </p:sp>
      <p:sp>
        <p:nvSpPr>
          <p:cNvPr id="26" name="Text 24"/>
          <p:cNvSpPr/>
          <p:nvPr/>
        </p:nvSpPr>
        <p:spPr>
          <a:xfrm>
            <a:off x="46177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257800" y="40050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Licences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257800" y="440740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Mall space negotiation &amp; permissions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183880" y="374904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CC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58200" y="4069080"/>
            <a:ext cx="457200" cy="457200"/>
          </a:xfrm>
          <a:prstGeom prst="ellipse">
            <a:avLst/>
          </a:prstGeom>
          <a:solidFill>
            <a:srgbClr val="1E4D39"/>
          </a:solidFill>
          <a:ln/>
        </p:spPr>
      </p:sp>
      <p:sp>
        <p:nvSpPr>
          <p:cNvPr id="31" name="Text 29"/>
          <p:cNvSpPr/>
          <p:nvPr/>
        </p:nvSpPr>
        <p:spPr>
          <a:xfrm>
            <a:off x="845820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098280" y="40050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operations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098280" y="440740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Reporting, cash management, upkeep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4D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_D_lef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2011680" cy="6858000"/>
          </a:xfrm>
          <a:prstGeom prst="rect">
            <a:avLst/>
          </a:prstGeom>
          <a:solidFill>
            <a:srgbClr val="1E4D39">
              <a:alpha val="7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6309360" cy="6858000"/>
          </a:xfrm>
          <a:prstGeom prst="rect">
            <a:avLst/>
          </a:prstGeom>
          <a:solidFill>
            <a:srgbClr val="1E4D39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6A24E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spc="5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758952" y="2148840"/>
            <a:ext cx="5120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light up Diwali.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3429000"/>
            <a:ext cx="2011680" cy="0"/>
          </a:xfrm>
          <a:prstGeom prst="line">
            <a:avLst/>
          </a:prstGeom>
          <a:noFill/>
          <a:ln w="19050">
            <a:solidFill>
              <a:srgbClr val="C6A2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3703320"/>
            <a:ext cx="52120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7D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detailed commercial proposal &amp; costing: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7D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setup, manpower, location charges, logistics, insurance &amp; hardware.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77240" y="5577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ProMarcom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95528" y="60350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activation · pop-up · experiential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ProMarcom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ProMarcom</dc:creator>
  <cp:lastModifiedBy>ProMarcom</cp:lastModifiedBy>
  <cp:revision>1</cp:revision>
  <dcterms:created xsi:type="dcterms:W3CDTF">2026-08-12T08:03:40Z</dcterms:created>
  <dcterms:modified xsi:type="dcterms:W3CDTF">2026-08-12T08:03:40Z</dcterms:modified>
</cp:coreProperties>
</file>