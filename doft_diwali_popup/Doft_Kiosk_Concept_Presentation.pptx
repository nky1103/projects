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DOFT Diwali Pop-Up boutique kiosk, premium home-fragrance salon, 8x8 ft, 14 malls, by ProMarcom.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opportunity: premium home fragrance, Diwali gifting, 14 malls, 8x8 boutique kiosk, turnkey.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concept: warm boutique fragrance salon: backlit brand wall, brass shelving, consultation seating, digital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layout: dimensioned 8x8 ft plan: backlit brand wall, perimeter U-counter, central seating, open-corner entries, digital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Materials: warm white lacquer, brushed brass, black stone, backlit acrylic seal, warm LED, digital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story: candles, gift hampers, reed diffusers, room sprays &amp; wax melts on backlit shelving.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malls pan-India per revised client list. Same window; select extend to Xmas/NY.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Rationale: atrium space limited; propose PVR/INOX multiplex foyer activation in the same malls. 14 multiplexes, 107 screens, ~20,000 seats/show.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Multiplex concept: 8x8 foyer activation stall, high dwell, sampling and direct sales. Reference activation photos.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Network: 14 PVR/INOX multiplexes in the same malls; 107 screens; ~20,000 seats/show.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Multiplex commercials: Rs 3,00,000 per site (6 weeks), x14 = Rs 42,00,000, +18% GST = Rs 49,56,000. Terms in favour of ProMarcom.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Turnkey scope: build, transport/install, manpower, logistics, licences, daily operations &amp;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next step is the detailed commercial proposal &amp; costing (separate workbook).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f_imgs/P1_s2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0"/>
            <a:ext cx="80768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1B17"/>
          </a:solidFill>
          <a:ln/>
        </p:spPr>
      </p:sp>
      <p:sp>
        <p:nvSpPr>
          <p:cNvPr id="4" name="Shape 1"/>
          <p:cNvSpPr/>
          <p:nvPr/>
        </p:nvSpPr>
        <p:spPr>
          <a:xfrm>
            <a:off x="5852160" y="0"/>
            <a:ext cx="2194560" cy="6858000"/>
          </a:xfrm>
          <a:prstGeom prst="rect">
            <a:avLst/>
          </a:prstGeom>
          <a:solidFill>
            <a:srgbClr val="1E1B17">
              <a:alpha val="6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515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spc="6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86868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D8C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SCENTED MEMORIES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834640"/>
            <a:ext cx="21945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0175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Diwali Pop-Up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Boutique Kiosk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95528" y="4892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9B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Design  ·  Premium home-fragrance salon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95528" y="5349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ft × 8 ft</a:t>
            </a:r>
            <a:pPr indent="0" marL="0">
              <a:buNone/>
            </a:pPr>
            <a:r>
              <a:rPr lang="en-US" sz="140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14 malls   ·   ~6 weeks festive window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95528" y="5897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61447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premium festive stage</a:t>
            </a:r>
            <a:endParaRPr lang="en-US" sz="3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Doft Candles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233172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Candles is a premium home-fragrance brand. For the Diwali gifting season we take the brand into India's highest-footfall malls with a turnkey pop-up boutique kiosk, a warm and luminous salon that invites shoppers to sit, smell and gift.
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range: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scented candles · reed diffusers · room sprays · wax melts · premium gift hampers.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96012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0" y="12344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178040" y="21945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malls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Pan-India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92640" y="96012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0" y="12344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8×8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829800" y="21945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Feet kiosk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sq ft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040880" y="342900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37033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178040" y="46634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festive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Xmas / NY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92640" y="342900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0" y="37033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Turnkey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829800" y="46634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→ build →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CONCEPT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DOFT boutique kiosk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luminous fragrance salon with a backlit brand wall, brass gallery shelving and a place to sit, smell and gift.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315468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017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Backlit brand-seal wall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32841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illuminated DOFT seal anchors the kiosk as a warm beacon across the mall court.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95935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8221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Brass gallery shelving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413308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Warm-lit floating shelves stage candles, diffusers and gift sets like a boutique.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76402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626864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Consultation seating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49377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 table and chairs invite shoppers to sit, sample scents and choose gifts.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556869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43153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brand screen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77240" y="5742432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at the aisle plays the Doft film and draws footfall in.</a:t>
            </a:r>
            <a:endParaRPr lang="en-US" sz="1150" dirty="0"/>
          </a:p>
        </p:txBody>
      </p:sp>
      <p:pic>
        <p:nvPicPr>
          <p:cNvPr id="18" name="Image 0" descr="ref_imgs/P1_s4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822960"/>
            <a:ext cx="6126480" cy="52120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894015" cy="6858000"/>
          </a:xfrm>
          <a:prstGeom prst="rect">
            <a:avLst/>
          </a:prstGeom>
          <a:solidFill>
            <a:srgbClr val="E7E2D8"/>
          </a:solidFill>
          <a:ln/>
        </p:spPr>
      </p:sp>
      <p:pic>
        <p:nvPicPr>
          <p:cNvPr id="3" name="Image 0" descr="ref_imgs/P1_s4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320040"/>
            <a:ext cx="7711135" cy="5989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94015" y="0"/>
            <a:ext cx="4297680" cy="685800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5" name="Shape 2"/>
          <p:cNvSpPr/>
          <p:nvPr/>
        </p:nvSpPr>
        <p:spPr>
          <a:xfrm>
            <a:off x="7894015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8396935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PERSPECTIVE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396935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Three-quarter view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8396935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96935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MEMORIES DOFT SCENTED seal wall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96935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Warm-lit brass gallery shelving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396935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counters with black-stone tops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396935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seal counter fronts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0"/>
            <a:ext cx="7894015" cy="6858000"/>
          </a:xfrm>
          <a:prstGeom prst="rect">
            <a:avLst/>
          </a:prstGeom>
          <a:solidFill>
            <a:srgbClr val="E7E2D8"/>
          </a:solidFill>
          <a:ln/>
        </p:spPr>
      </p:sp>
      <p:pic>
        <p:nvPicPr>
          <p:cNvPr id="3" name="Image 0" descr="ref_imgs/P1_s3_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89120" y="320040"/>
            <a:ext cx="7711135" cy="5989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5" name="Shape 2"/>
          <p:cNvSpPr/>
          <p:nvPr/>
        </p:nvSpPr>
        <p:spPr>
          <a:xfrm>
            <a:off x="4261104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STOREFRONT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02920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 elevation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Symmetrical premium storefront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brand seal as the hero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Reed diffusers, candles &amp; gift sets staged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02920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Downlit header fascia &amp; warm LED base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894015" cy="6858000"/>
          </a:xfrm>
          <a:prstGeom prst="rect">
            <a:avLst/>
          </a:prstGeom>
          <a:solidFill>
            <a:srgbClr val="E7E2D8"/>
          </a:solidFill>
          <a:ln/>
        </p:spPr>
      </p:sp>
      <p:pic>
        <p:nvPicPr>
          <p:cNvPr id="3" name="Image 0" descr="ref_imgs/P1_s1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320040"/>
            <a:ext cx="7711135" cy="5989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94015" y="0"/>
            <a:ext cx="4297680" cy="685800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5" name="Shape 2"/>
          <p:cNvSpPr/>
          <p:nvPr/>
        </p:nvSpPr>
        <p:spPr>
          <a:xfrm>
            <a:off x="7894015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8396935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LAYOUT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396935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view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8396935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96935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Open-corner customer entry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96935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U-counter wraps the display zone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396935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table &amp; seating for gifting consults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396935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brand screen at the aisle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LAYOUT · PLAN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ft × 8 ft kiosk footprint</a:t>
            </a:r>
            <a:endParaRPr lang="en-US" sz="2800" dirty="0"/>
          </a:p>
        </p:txBody>
      </p:sp>
      <p:pic>
        <p:nvPicPr>
          <p:cNvPr id="4" name="Image 0" descr="ref_imgs/P1_s5_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7589520" cy="5212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371600"/>
            <a:ext cx="3200400" cy="49377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7824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ZONES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796528" y="215798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8" name="Text 5"/>
          <p:cNvSpPr/>
          <p:nvPr/>
        </p:nvSpPr>
        <p:spPr>
          <a:xfrm>
            <a:off x="9052560" y="201168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Backlit brand wall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9052560" y="230428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seal + gallery shelving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796528" y="298094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1" name="Text 8"/>
          <p:cNvSpPr/>
          <p:nvPr/>
        </p:nvSpPr>
        <p:spPr>
          <a:xfrm>
            <a:off x="9052560" y="283464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counters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9052560" y="312724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U-display wraps three sides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96528" y="380390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4" name="Text 11"/>
          <p:cNvSpPr/>
          <p:nvPr/>
        </p:nvSpPr>
        <p:spPr>
          <a:xfrm>
            <a:off x="9052560" y="365760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Consultation seating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052560" y="395020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table + four chairs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96528" y="462686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7" name="Text 14"/>
          <p:cNvSpPr/>
          <p:nvPr/>
        </p:nvSpPr>
        <p:spPr>
          <a:xfrm>
            <a:off x="9052560" y="448056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Open-corner entries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052560" y="47731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customer flow in &amp; out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796528" y="544982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0" name="Text 17"/>
          <p:cNvSpPr/>
          <p:nvPr/>
        </p:nvSpPr>
        <p:spPr>
          <a:xfrm>
            <a:off x="9052560" y="530352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screen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9052560" y="559612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film at the aisle edge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FINISHES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warm, premium material palette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429000" cy="1234440"/>
          </a:xfrm>
          <a:prstGeom prst="rect">
            <a:avLst/>
          </a:prstGeom>
          <a:solidFill>
            <a:srgbClr val="F0ECE3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white lacquer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display walls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1828800"/>
            <a:ext cx="3429000" cy="1234440"/>
          </a:xfrm>
          <a:prstGeom prst="rect">
            <a:avLst/>
          </a:prstGeom>
          <a:solidFill>
            <a:srgbClr val="C6A24E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Brushed brass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Shelving, trims &amp; legs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75320" y="1828800"/>
            <a:ext cx="3429000" cy="1234440"/>
          </a:xfrm>
          <a:prstGeom prst="rect">
            <a:avLst/>
          </a:prstGeom>
          <a:solidFill>
            <a:srgbClr val="20201E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Black-stone top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753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surfaces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251960"/>
            <a:ext cx="3429000" cy="1234440"/>
          </a:xfrm>
          <a:prstGeom prst="rect">
            <a:avLst/>
          </a:prstGeom>
          <a:solidFill>
            <a:srgbClr val="F2E4C4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Backlit brand seal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acrylic panels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4251960"/>
            <a:ext cx="3429000" cy="1234440"/>
          </a:xfrm>
          <a:prstGeom prst="rect">
            <a:avLst/>
          </a:prstGeom>
          <a:solidFill>
            <a:srgbClr val="F3D9A6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LED glow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891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&amp; downlights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75320" y="4251960"/>
            <a:ext cx="3429000" cy="1234440"/>
          </a:xfrm>
          <a:prstGeom prst="rect">
            <a:avLst/>
          </a:prstGeom>
          <a:solidFill>
            <a:srgbClr val="2B2621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screen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753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film &amp; catalogue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Merchandising the Doft story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brass shelving and counter displays stage the full gifting range at eye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6" name="Image 0" descr="brief_assets/DOFT/16871dda-65d9-4f51-acfd-b2b5ad6183e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2258568"/>
            <a:ext cx="2386584" cy="1691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Scented candles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42900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9" name="Image 1" descr="brief_assets/DOFT/5dc4e2f7-31d9-4a47-ba1e-1ed1f98adf4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38728" y="2258568"/>
            <a:ext cx="2386584" cy="1691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2900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 hampers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5508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12" name="Image 2" descr="brief_assets/DOFT/14f3dd5c-717d-40c6-9314-74ee5f820af0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64808" y="2258568"/>
            <a:ext cx="2386584" cy="16916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5508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Reed diffusers &amp; sprays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928116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15" name="Image 3" descr="brief_assets/DOFT/66d435a3-c7c1-44d9-b723-01f7df92b43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0888" y="2258568"/>
            <a:ext cx="2386584" cy="16916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28116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Festive gift boxes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premium malls, pan-India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Delhi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Citywalk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Noida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DLF Mall of India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Gurgaon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Mall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Chandigarh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Elante Mall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7764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Lucknow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Mall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891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5" name="Text 13"/>
          <p:cNvSpPr/>
          <p:nvPr/>
        </p:nvSpPr>
        <p:spPr>
          <a:xfrm>
            <a:off x="46451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 · BKC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Jio World Mall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3891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7" name="Text 15"/>
          <p:cNvSpPr/>
          <p:nvPr/>
        </p:nvSpPr>
        <p:spPr>
          <a:xfrm>
            <a:off x="46451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 · Lower Parel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3891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9" name="Text 17"/>
          <p:cNvSpPr/>
          <p:nvPr/>
        </p:nvSpPr>
        <p:spPr>
          <a:xfrm>
            <a:off x="46451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Ahmedabad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3891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1" name="Text 19"/>
          <p:cNvSpPr/>
          <p:nvPr/>
        </p:nvSpPr>
        <p:spPr>
          <a:xfrm>
            <a:off x="46451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Nagpur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 Mall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389120" y="397764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3" name="Text 21"/>
          <p:cNvSpPr/>
          <p:nvPr/>
        </p:nvSpPr>
        <p:spPr>
          <a:xfrm>
            <a:off x="4645152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Kolkata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City Mall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2753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5" name="Text 23"/>
          <p:cNvSpPr/>
          <p:nvPr/>
        </p:nvSpPr>
        <p:spPr>
          <a:xfrm>
            <a:off x="85313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Chennai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Marketcity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2753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7" name="Text 25"/>
          <p:cNvSpPr/>
          <p:nvPr/>
        </p:nvSpPr>
        <p:spPr>
          <a:xfrm>
            <a:off x="85313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Marketcity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2753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9" name="Text 27"/>
          <p:cNvSpPr/>
          <p:nvPr/>
        </p:nvSpPr>
        <p:spPr>
          <a:xfrm>
            <a:off x="85313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Hyderabad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2753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31" name="Text 29"/>
          <p:cNvSpPr/>
          <p:nvPr/>
        </p:nvSpPr>
        <p:spPr>
          <a:xfrm>
            <a:off x="85313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Kochi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International Mall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festive window across all locations.  </a:t>
            </a:r>
            <a:pPr indent="0" marL="0">
              <a:buNone/>
            </a:pPr>
            <a:r>
              <a:rPr lang="en-US" sz="12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high-performing malls extended through Christmas &amp; New Year.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REACH  ·  CHANNEL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multiplex activation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11155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atrium space on a six-week rental is limited and highly contested. To secure reach across every target city we propose a parallel Doft activation inside the 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PVR / INOX multiplexes located in the same malls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captive, premium, high-dwell audience already in a leisure and gifting mindset.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3383280"/>
            <a:ext cx="2697480" cy="21945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370332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46177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Multiplexes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50109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PVR &amp; INOX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02152" y="3383280"/>
            <a:ext cx="2697480" cy="21945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2152" y="370332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502152" y="46177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02152" y="50109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network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01384" y="3383280"/>
            <a:ext cx="2697480" cy="21945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1384" y="370332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~20,000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501384" y="46177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Seats / show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01384" y="50109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capacity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00616" y="3383280"/>
            <a:ext cx="2697480" cy="21945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0616" y="370332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8×8 ft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500616" y="46177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Foyer stall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500616" y="50109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6-week window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 ACTIVATION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presence in the cinema foyer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8x8 ft Doft activation stall in the foyer, seen by every patron entering, waiting and exiting: high dwell time, a festive gifting mindset, live sampling and direct sales.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3611880" cy="3200400"/>
          </a:xfrm>
          <a:prstGeom prst="rect">
            <a:avLst/>
          </a:prstGeom>
          <a:solidFill>
            <a:srgbClr val="E7E2D8"/>
          </a:solidFill>
          <a:ln w="12700">
            <a:solidFill>
              <a:srgbClr val="E6DECB"/>
            </a:solidFill>
            <a:prstDash val="solid"/>
          </a:ln>
        </p:spPr>
      </p:sp>
      <p:pic>
        <p:nvPicPr>
          <p:cNvPr id="6" name="Image 0" descr="ref_imgs/cinema_s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" y="2404872"/>
            <a:ext cx="3465576" cy="30540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89120" y="2331720"/>
            <a:ext cx="3611880" cy="3200400"/>
          </a:xfrm>
          <a:prstGeom prst="rect">
            <a:avLst/>
          </a:prstGeom>
          <a:solidFill>
            <a:srgbClr val="E7E2D8"/>
          </a:solidFill>
          <a:ln w="12700">
            <a:solidFill>
              <a:srgbClr val="E6DECB"/>
            </a:solidFill>
            <a:prstDash val="solid"/>
          </a:ln>
        </p:spPr>
      </p:sp>
      <p:pic>
        <p:nvPicPr>
          <p:cNvPr id="8" name="Image 1" descr="ref_imgs/cinema_s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62272" y="2404872"/>
            <a:ext cx="3465576" cy="305409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275320" y="2331720"/>
            <a:ext cx="3611880" cy="3200400"/>
          </a:xfrm>
          <a:prstGeom prst="rect">
            <a:avLst/>
          </a:prstGeom>
          <a:solidFill>
            <a:srgbClr val="E7E2D8"/>
          </a:solidFill>
          <a:ln w="12700">
            <a:solidFill>
              <a:srgbClr val="E6DECB"/>
            </a:solidFill>
            <a:prstDash val="solid"/>
          </a:ln>
        </p:spPr>
      </p:sp>
      <p:pic>
        <p:nvPicPr>
          <p:cNvPr id="10" name="Image 2" descr="ref_imgs/cinema_s4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48472" y="2404872"/>
            <a:ext cx="3465576" cy="30540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02920" y="56418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foyer activations  ·  PVR / INOX network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premium multiplexes, pan-India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1554480"/>
                <a:gridCol w="173736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Multiplex / Cinema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Seats / show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Mumbai · Lower Parel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Phoenix (Worli)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Mumbai · BKC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Maison BKC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Ahmedabad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Palladium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Delhi · Saket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Select Citywalk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DT · Mall of India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Gurgaon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Ambience Mall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Chandigarh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Nexus Elante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Lucknow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Superplex · Lulu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Kolkata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INOX City Centre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Kolkata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INOX City Centre II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Hyderabad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Icon · Hitech City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Bengaluru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Phoenix Market City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Chennai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INOX Luxe · Phoenix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Kochi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Lulu Mall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Totals:  </a:t>
            </a:r>
            <a:pPr indent="0" marL="0">
              <a:buNone/>
            </a:pPr>
            <a:r>
              <a:rPr lang="en-US" sz="12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multiplexes  ·  107 screens  ·  ~20,000 seats per show  (PVR + INOX)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 COMMERCIALS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Activation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multiplex (6 weeks)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794760" y="18288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₹3,00,000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340864"/>
            <a:ext cx="507492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45059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14 multiplexes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794760" y="2450592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₹42,00,000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962656"/>
            <a:ext cx="507492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072384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@ 18%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94760" y="3072384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₹7,56,000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584448"/>
            <a:ext cx="507492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785616"/>
            <a:ext cx="5074920" cy="77724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785616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(incl. GST)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063240" y="3785616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₹49,56,000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02920" y="4745736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 14 multiplexes, 6-week window.  Kiosk build, manpower &amp; logistics as per the operations costing.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35040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685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0" y="1289304"/>
            <a:ext cx="137160" cy="137160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0" y="1188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advance, in favour of ProMarcom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00800" y="1856232"/>
            <a:ext cx="137160" cy="137160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175564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 GST extra on the above rates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0" y="2423160"/>
            <a:ext cx="137160" cy="137160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5" name="Text 23"/>
          <p:cNvSpPr/>
          <p:nvPr/>
        </p:nvSpPr>
        <p:spPr>
          <a:xfrm>
            <a:off x="6675120" y="2322576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to be confirmed before booking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400800" y="2990088"/>
            <a:ext cx="137160" cy="137160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2889504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once booked cannot be postponed or cancelled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0" y="3557016"/>
            <a:ext cx="137160" cy="137160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9" name="Text 27"/>
          <p:cNvSpPr/>
          <p:nvPr/>
        </p:nvSpPr>
        <p:spPr>
          <a:xfrm>
            <a:off x="6675120" y="345643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from date of booking / availability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400800" y="4123944"/>
            <a:ext cx="137160" cy="137160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0" y="40233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subject to change without prior notice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0" y="4818888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Cinema-space commercials per the multiplex rate card; managed end-to-end by ProMarcom.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SCOPE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 runs the whole programme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build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to the approved design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14884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5780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 &amp; install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5780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on-site setup &amp; finishing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8388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8200" y="214884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09828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Manpower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9828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billing, supervision, city managers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movement &amp; replenishment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340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406908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5780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Licences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5780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 space negotiation &amp; permissions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8388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8200" y="406908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31" name="Text 29"/>
          <p:cNvSpPr/>
          <p:nvPr/>
        </p:nvSpPr>
        <p:spPr>
          <a:xfrm>
            <a:off x="84582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09828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operations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9828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Reporting, cash management, upkeep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f_imgs/P1_s2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1828800" cy="6858000"/>
          </a:xfrm>
          <a:prstGeom prst="rect">
            <a:avLst/>
          </a:prstGeom>
          <a:solidFill>
            <a:srgbClr val="1E1B17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1E1B17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5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58952" y="214884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light up Diwali.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3429000"/>
            <a:ext cx="201168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703320"/>
            <a:ext cx="5212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8C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commercial proposal &amp; costing: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8C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manpower, location charges, logistics, insurance &amp; hardware.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5577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95528" y="6035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activation · pop-up · experiential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ProMarcom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ProMarcom</dc:creator>
  <cp:lastModifiedBy>ProMarcom</cp:lastModifiedBy>
  <cp:revision>1</cp:revision>
  <dcterms:created xsi:type="dcterms:W3CDTF">2026-08-12T10:50:22Z</dcterms:created>
  <dcterms:modified xsi:type="dcterms:W3CDTF">2026-08-12T10:50:22Z</dcterms:modified>
</cp:coreProperties>
</file>