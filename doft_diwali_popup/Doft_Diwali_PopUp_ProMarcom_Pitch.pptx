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Per-kiosk cost heads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E5A45"/>
              </a:solidFill>
              <a:effectLst/>
            </c:spPr>
          </c:dPt>
          <c:dPt>
            <c:idx val="1"/>
            <c:bubble3D val="0"/>
            <c:spPr>
              <a:solidFill>
                <a:srgbClr val="C39A98"/>
              </a:solidFill>
              <a:effectLst/>
            </c:spPr>
          </c:dPt>
          <c:dPt>
            <c:idx val="2"/>
            <c:bubble3D val="0"/>
            <c:spPr>
              <a:solidFill>
                <a:srgbClr val="4A343A"/>
              </a:solidFill>
              <a:effectLst/>
            </c:spPr>
          </c:dPt>
          <c:dPt>
            <c:idx val="3"/>
            <c:bubble3D val="0"/>
            <c:spPr>
              <a:solidFill>
                <a:srgbClr val="B8924A"/>
              </a:solidFill>
              <a:effectLst/>
            </c:spPr>
          </c:dPt>
          <c:dPt>
            <c:idx val="4"/>
            <c:bubble3D val="0"/>
            <c:spPr>
              <a:solidFill>
                <a:srgbClr val="C9B9A6"/>
              </a:solidFill>
              <a:effectLst/>
            </c:spPr>
          </c:dPt>
          <c:dPt>
            <c:idx val="5"/>
            <c:bubble3D val="0"/>
            <c:spPr>
              <a:solidFill>
                <a:srgbClr val="E0D4C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Manpower</c:v>
                </c:pt>
                <c:pt idx="1">
                  <c:v>Mall licence*</c:v>
                </c:pt>
                <c:pt idx="2">
                  <c:v>Kiosk fabrication</c:v>
                </c:pt>
                <c:pt idx="3">
                  <c:v>Logistics &amp; stockroom</c:v>
                </c:pt>
                <c:pt idx="4">
                  <c:v>Welfare &amp; incentives</c:v>
                </c:pt>
                <c:pt idx="5">
                  <c:v>Other setup &amp; compliance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393</c:v>
                </c:pt>
                <c:pt idx="1">
                  <c:v>250</c:v>
                </c:pt>
                <c:pt idx="2">
                  <c:v>225</c:v>
                </c:pt>
                <c:pt idx="3">
                  <c:v>100</c:v>
                </c:pt>
                <c:pt idx="4">
                  <c:v>55</c:v>
                </c:pt>
                <c:pt idx="5">
                  <c:v>102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5302B"/>
              </a:solidFill>
              <a:latin typeface="Corbel"/>
              <a:cs typeface="Corbe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inal/doft_hero_le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54864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C39A98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566928" y="603504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O  F  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11247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client logo — placeholder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66928" y="1965960"/>
            <a:ext cx="7114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CONTRACTOR EXECUTION &amp; PARTNERSHIP PROPOSAL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2331720"/>
            <a:ext cx="7114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Diwali Pop-Up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566928" y="3200400"/>
            <a:ext cx="7114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Operations</a:t>
            </a:r>
            <a:endParaRPr lang="en-US" sz="5000" dirty="0"/>
          </a:p>
        </p:txBody>
      </p:sp>
      <p:sp>
        <p:nvSpPr>
          <p:cNvPr id="10" name="Shape 7"/>
          <p:cNvSpPr/>
          <p:nvPr/>
        </p:nvSpPr>
        <p:spPr>
          <a:xfrm>
            <a:off x="585216" y="4206240"/>
            <a:ext cx="3291840" cy="0"/>
          </a:xfrm>
          <a:prstGeom prst="line">
            <a:avLst/>
          </a:prstGeom>
          <a:noFill/>
          <a:ln w="19050">
            <a:solidFill>
              <a:srgbClr val="C39A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352544"/>
            <a:ext cx="7114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 </a:t>
            </a:r>
            <a:pPr indent="0" marL="0">
              <a:buNone/>
            </a:pPr>
            <a:r>
              <a:rPr lang="en-US" sz="130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Doft Candles</a:t>
            </a:r>
            <a:pPr indent="0" marL="0">
              <a:buNone/>
            </a:pPr>
            <a:r>
              <a:rPr lang="en-US" sz="130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    ·     Diwali Seasons 2026 · 2027 · 2028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5029200"/>
            <a:ext cx="7114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9A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“Experiencing the world through scent.”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6928" y="5742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18488" y="5705856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15" name="Image 1" descr="assets/final/promarcom_logo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5784302"/>
            <a:ext cx="1316736" cy="3003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your brief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Premium seasonal pop-up kiosks in leading malls — staffed and run end-to-end, as a long-term partner for Diwali 2026–28.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6928" y="1965960"/>
            <a:ext cx="3471672" cy="1371600"/>
          </a:xfrm>
          <a:prstGeom prst="roundRect">
            <a:avLst>
              <a:gd name="adj" fmla="val 4667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295144"/>
            <a:ext cx="91440" cy="914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" y="2148840"/>
            <a:ext cx="292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wks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2679192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Operating window before Diwali, each season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58640" y="1965960"/>
            <a:ext cx="3471672" cy="1371600"/>
          </a:xfrm>
          <a:prstGeom prst="roundRect">
            <a:avLst>
              <a:gd name="adj" fmla="val 4667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4672" y="2295144"/>
            <a:ext cx="91440" cy="914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13" name="Text 10"/>
          <p:cNvSpPr/>
          <p:nvPr/>
        </p:nvSpPr>
        <p:spPr>
          <a:xfrm>
            <a:off x="4770120" y="2148840"/>
            <a:ext cx="292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 sq ft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614672" y="2679192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Kiosk footprint, plus a ~90 sq ft stockroom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50352" y="1965960"/>
            <a:ext cx="3471672" cy="1371600"/>
          </a:xfrm>
          <a:prstGeom prst="roundRect">
            <a:avLst>
              <a:gd name="adj" fmla="val 4667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06384" y="2295144"/>
            <a:ext cx="91440" cy="914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17" name="Text 14"/>
          <p:cNvSpPr/>
          <p:nvPr/>
        </p:nvSpPr>
        <p:spPr>
          <a:xfrm>
            <a:off x="8561832" y="2148840"/>
            <a:ext cx="292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406384" y="2679192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Pop-ups per region, across multiple cities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3630168"/>
            <a:ext cx="3471672" cy="1371600"/>
          </a:xfrm>
          <a:prstGeom prst="roundRect">
            <a:avLst>
              <a:gd name="adj" fmla="val 4667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3959352"/>
            <a:ext cx="91440" cy="914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21" name="Text 18"/>
          <p:cNvSpPr/>
          <p:nvPr/>
        </p:nvSpPr>
        <p:spPr>
          <a:xfrm>
            <a:off x="978408" y="3813048"/>
            <a:ext cx="292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kiosk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22960" y="4343400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Full staffing team at every pop-up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58640" y="3630168"/>
            <a:ext cx="3471672" cy="1371600"/>
          </a:xfrm>
          <a:prstGeom prst="roundRect">
            <a:avLst>
              <a:gd name="adj" fmla="val 4667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14672" y="3959352"/>
            <a:ext cx="91440" cy="914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25" name="Text 22"/>
          <p:cNvSpPr/>
          <p:nvPr/>
        </p:nvSpPr>
        <p:spPr>
          <a:xfrm>
            <a:off x="4770120" y="3813048"/>
            <a:ext cx="292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1-day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4614672" y="4343400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Doft product &amp; sales training, 100% attendance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150352" y="3630168"/>
            <a:ext cx="3471672" cy="1371600"/>
          </a:xfrm>
          <a:prstGeom prst="roundRect">
            <a:avLst>
              <a:gd name="adj" fmla="val 4667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406384" y="3959352"/>
            <a:ext cx="91440" cy="914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29" name="Text 26"/>
          <p:cNvSpPr/>
          <p:nvPr/>
        </p:nvSpPr>
        <p:spPr>
          <a:xfrm>
            <a:off x="8561832" y="3813048"/>
            <a:ext cx="292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 supplies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8406384" y="4343400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Stock, furniture, POS/EDC, returnable uniforms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3A283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120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WHY PROMARCOM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partner built for premium mall retail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delivers below-the-line, retail and experiential marketing end to end — concept, design, fabrication, manpower, operations and reporting.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558034" cy="3200400"/>
          </a:xfrm>
          <a:prstGeom prst="roundRect">
            <a:avLst>
              <a:gd name="adj" fmla="val 2502"/>
            </a:avLst>
          </a:prstGeom>
          <a:solidFill>
            <a:srgbClr val="3A2830"/>
          </a:solidFill>
          <a:ln w="12700">
            <a:solidFill>
              <a:srgbClr val="5C40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60604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 &amp; Retail Promotions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Multi-month mall activations and in-shop demonstrations for global brands.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9282" y="2286000"/>
            <a:ext cx="2558034" cy="3200400"/>
          </a:xfrm>
          <a:prstGeom prst="roundRect">
            <a:avLst>
              <a:gd name="adj" fmla="val 2502"/>
            </a:avLst>
          </a:prstGeom>
          <a:solidFill>
            <a:srgbClr val="3A2830"/>
          </a:solidFill>
          <a:ln w="12700">
            <a:solidFill>
              <a:srgbClr val="5C40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3602" y="260604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7360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5314" y="3337560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Retail VM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5314" y="4114800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Show-windows &amp; VM for Burberry, Louis Vuitton, LG, Samsung across 90+ cities.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1636" y="2286000"/>
            <a:ext cx="2558034" cy="3200400"/>
          </a:xfrm>
          <a:prstGeom prst="roundRect">
            <a:avLst>
              <a:gd name="adj" fmla="val 2502"/>
            </a:avLst>
          </a:prstGeom>
          <a:solidFill>
            <a:srgbClr val="3A2830"/>
          </a:solidFill>
          <a:ln w="12700">
            <a:solidFill>
              <a:srgbClr val="5C40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5956" y="260604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0595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87668" y="3337560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Manpower at 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7668" y="4114800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Recruit, train, deploy and manage large field teams with tracking and reporting.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63990" y="2286000"/>
            <a:ext cx="2558034" cy="3200400"/>
          </a:xfrm>
          <a:prstGeom prst="roundRect">
            <a:avLst>
              <a:gd name="adj" fmla="val 2502"/>
            </a:avLst>
          </a:prstGeom>
          <a:solidFill>
            <a:srgbClr val="3A2830"/>
          </a:solidFill>
          <a:ln w="12700">
            <a:solidFill>
              <a:srgbClr val="5C40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8310" y="260604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23" name="Text 21"/>
          <p:cNvSpPr/>
          <p:nvPr/>
        </p:nvSpPr>
        <p:spPr>
          <a:xfrm>
            <a:off x="933831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20022" y="3337560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Exhibitions &amp; Events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0022" y="4114800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1,000–24,000 sqm exhibitions; events for LG, Samsung, HP, ICC World Cup.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B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track record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508760"/>
            <a:ext cx="2558034" cy="1691640"/>
          </a:xfrm>
          <a:prstGeom prst="roundRect">
            <a:avLst>
              <a:gd name="adj" fmla="val 3784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" y="1728216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90+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68096" y="242316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Cities covered for retail VM &amp; activations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99282" y="1508760"/>
            <a:ext cx="2558034" cy="1691640"/>
          </a:xfrm>
          <a:prstGeom prst="roundRect">
            <a:avLst>
              <a:gd name="adj" fmla="val 3784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00450" y="1728216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600450" y="242316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Man-days on one multi-city retail rollout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31636" y="1508760"/>
            <a:ext cx="2558034" cy="1691640"/>
          </a:xfrm>
          <a:prstGeom prst="roundRect">
            <a:avLst>
              <a:gd name="adj" fmla="val 3784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32804" y="1728216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24,000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6432804" y="242316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Sqm of exhibition floor managed (max)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63990" y="1508760"/>
            <a:ext cx="2558034" cy="1691640"/>
          </a:xfrm>
          <a:prstGeom prst="roundRect">
            <a:avLst>
              <a:gd name="adj" fmla="val 3784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65158" y="1728216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 yrs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9265158" y="242316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 LG's BTL / retail / digital partner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" y="3520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Trusted by leading brands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3931920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" y="3931920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439924" y="3931920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85644" y="3931920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Samsung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12920" y="3931920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58640" y="3931920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Hewlett-Packard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85916" y="3931920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31636" y="3931920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Bajaj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58912" y="3931920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04632" y="3931920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Castrol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931908" y="3931920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77628" y="3931920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Pepsi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" y="4681728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" y="4681728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ITC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439924" y="4681728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85644" y="4681728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Burberry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312920" y="4681728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58640" y="4681728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Louis Vuitton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185916" y="4681728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31636" y="4681728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Panasonic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058912" y="4681728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04632" y="4681728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931908" y="4681728"/>
            <a:ext cx="1690116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977628" y="4681728"/>
            <a:ext cx="1598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ICC World Cup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66928" y="5806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Illustrative selection from ProMarcom credentials.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RELEVANT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run exactly this before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536192"/>
            <a:ext cx="3471672" cy="4114800"/>
          </a:xfrm>
          <a:prstGeom prst="roundRect">
            <a:avLst>
              <a:gd name="adj" fmla="val 1844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pic>
        <p:nvPicPr>
          <p:cNvPr id="7" name="Image 1" descr="assets/final/hp_mall_prom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" y="1645920"/>
            <a:ext cx="3252216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6656" y="1645920"/>
            <a:ext cx="3252216" cy="1828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3566160"/>
            <a:ext cx="306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 — Mall Promotions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8096" y="3986784"/>
            <a:ext cx="306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5A4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Mumbai &amp; Bengaluru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68096" y="4297680"/>
            <a:ext cx="3069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3-month mall promotion: fabrication, manpower, props, merchandising, logistics &amp; reporting.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58640" y="1536192"/>
            <a:ext cx="3471672" cy="4114800"/>
          </a:xfrm>
          <a:prstGeom prst="roundRect">
            <a:avLst>
              <a:gd name="adj" fmla="val 1844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pic>
        <p:nvPicPr>
          <p:cNvPr id="13" name="Image 2" descr="assets/final/burberry_window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68368" y="1645920"/>
            <a:ext cx="3252216" cy="182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468368" y="1645920"/>
            <a:ext cx="3252216" cy="1828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59808" y="3566160"/>
            <a:ext cx="306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Burberry &amp; Louis Vuitton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59808" y="3986784"/>
            <a:ext cx="306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5A4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Premium Retail VM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59808" y="4297680"/>
            <a:ext cx="3069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Luxury show-windows, in-shop props &amp; merchandise — the premium standard Doft demands.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150352" y="1536192"/>
            <a:ext cx="3471672" cy="4114800"/>
          </a:xfrm>
          <a:prstGeom prst="roundRect">
            <a:avLst>
              <a:gd name="adj" fmla="val 1844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pic>
        <p:nvPicPr>
          <p:cNvPr id="19" name="Image 3" descr="assets/final/hp_veg_car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60080" y="1645920"/>
            <a:ext cx="3252216" cy="18288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60080" y="1645920"/>
            <a:ext cx="3252216" cy="1828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351520" y="3566160"/>
            <a:ext cx="306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 Cookie Pep Carnival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51520" y="3986784"/>
            <a:ext cx="306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5A4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70+ cities · 3,000 man-days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351520" y="4297680"/>
            <a:ext cx="3069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Shop-to-shop retail activation across India — multi-city manpower at scale.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accountable partner, end to end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8308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929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49808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Build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2624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On-site fabrication &amp; install to Doft design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38728" y="1929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38728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 &amp; Legal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38728" y="2624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Liaison, licences, permits, approvals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44768" y="178308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27648" y="1929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27648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27648" y="2624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Ghaziabad pickup, replenishment, returns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933688" y="178308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16568" y="1929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116568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&amp; Staff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16568" y="2624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Hire, BGV, payroll, statutory compliance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938528" y="356616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4A343A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121408" y="3712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2121408" y="4041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121408" y="4407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100% attendance + a trained bench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27448" y="356616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4A343A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910328" y="3712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910328" y="4041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Ops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910328" y="4407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Open–close, sales, POS, VM, cash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16368" y="356616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4A343A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699248" y="3712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7699248" y="4041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699248" y="4407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Daily sales, footfall, stock, attendance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66928" y="53035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Team Leader on ProMarcom's payroll owns daily operations at every kiosk — your one point of contact.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STAFFING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people per kiosk — exactly to brief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572768"/>
            <a:ext cx="3471672" cy="1572768"/>
          </a:xfrm>
          <a:prstGeom prst="roundRect">
            <a:avLst>
              <a:gd name="adj" fmla="val 407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847088"/>
            <a:ext cx="749808" cy="749808"/>
          </a:xfrm>
          <a:prstGeom prst="ellipse">
            <a:avLst/>
          </a:prstGeom>
          <a:solidFill>
            <a:srgbClr val="F6F1E6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8470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709928" y="1865376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Executives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09928" y="2304288"/>
            <a:ext cx="2145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Female, 22–25, fluent English, retail experience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58640" y="1572768"/>
            <a:ext cx="3471672" cy="1572768"/>
          </a:xfrm>
          <a:prstGeom prst="roundRect">
            <a:avLst>
              <a:gd name="adj" fmla="val 407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1847088"/>
            <a:ext cx="749808" cy="749808"/>
          </a:xfrm>
          <a:prstGeom prst="ellipse">
            <a:avLst/>
          </a:prstGeom>
          <a:solidFill>
            <a:srgbClr val="F6F1E6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8096" y="18470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5501640" y="1865376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Support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501640" y="2304288"/>
            <a:ext cx="2145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Merchandising, stock, queue management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50352" y="1572768"/>
            <a:ext cx="3471672" cy="1572768"/>
          </a:xfrm>
          <a:prstGeom prst="roundRect">
            <a:avLst>
              <a:gd name="adj" fmla="val 407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69808" y="1847088"/>
            <a:ext cx="749808" cy="749808"/>
          </a:xfrm>
          <a:prstGeom prst="ellipse">
            <a:avLst/>
          </a:prstGeom>
          <a:solidFill>
            <a:srgbClr val="F6F1E6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9808" y="18470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9293352" y="1865376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293352" y="2304288"/>
            <a:ext cx="2145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Housekeeping &amp; material handling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419856"/>
            <a:ext cx="3471672" cy="1572768"/>
          </a:xfrm>
          <a:prstGeom prst="roundRect">
            <a:avLst>
              <a:gd name="adj" fmla="val 407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3694176"/>
            <a:ext cx="749808" cy="749808"/>
          </a:xfrm>
          <a:prstGeom prst="ellipse">
            <a:avLst/>
          </a:prstGeom>
          <a:solidFill>
            <a:srgbClr val="F6F1E6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36941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1709928" y="3712464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Cashier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709928" y="4151376"/>
            <a:ext cx="2145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Experienced on POS / EDC machines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58640" y="3419856"/>
            <a:ext cx="3471672" cy="1572768"/>
          </a:xfrm>
          <a:prstGeom prst="roundRect">
            <a:avLst>
              <a:gd name="adj" fmla="val 407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8096" y="3694176"/>
            <a:ext cx="749808" cy="749808"/>
          </a:xfrm>
          <a:prstGeom prst="ellipse">
            <a:avLst/>
          </a:prstGeom>
          <a:solidFill>
            <a:srgbClr val="F6F1E6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8096" y="36941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00" dirty="0"/>
          </a:p>
        </p:txBody>
      </p:sp>
      <p:sp>
        <p:nvSpPr>
          <p:cNvPr id="29" name="Text 26"/>
          <p:cNvSpPr/>
          <p:nvPr/>
        </p:nvSpPr>
        <p:spPr>
          <a:xfrm>
            <a:off x="5501640" y="3712464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501640" y="4151376"/>
            <a:ext cx="2145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Stock transport &amp; replenishment runs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150352" y="3419856"/>
            <a:ext cx="3471672" cy="1572768"/>
          </a:xfrm>
          <a:prstGeom prst="roundRect">
            <a:avLst>
              <a:gd name="adj" fmla="val 407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369808" y="3694176"/>
            <a:ext cx="749808" cy="749808"/>
          </a:xfrm>
          <a:prstGeom prst="ellipse">
            <a:avLst/>
          </a:prstGeom>
          <a:solidFill>
            <a:srgbClr val="4A343A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69808" y="36941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00" dirty="0"/>
          </a:p>
        </p:txBody>
      </p:sp>
      <p:sp>
        <p:nvSpPr>
          <p:cNvPr id="34" name="Text 31"/>
          <p:cNvSpPr/>
          <p:nvPr/>
        </p:nvSpPr>
        <p:spPr>
          <a:xfrm>
            <a:off x="9293352" y="3712464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Leader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293352" y="4151376"/>
            <a:ext cx="2145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Permanent ProMarcom employee — ops owner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6928" y="5349240"/>
            <a:ext cx="11055096" cy="658368"/>
          </a:xfrm>
          <a:prstGeom prst="roundRect">
            <a:avLst>
              <a:gd name="adj" fmla="val 9722"/>
            </a:avLst>
          </a:prstGeom>
          <a:solidFill>
            <a:srgbClr val="4A343A"/>
          </a:solidFill>
          <a:ln/>
        </p:spPr>
      </p:sp>
      <p:sp>
        <p:nvSpPr>
          <p:cNvPr id="37" name="Text 34"/>
          <p:cNvSpPr/>
          <p:nvPr/>
        </p:nvSpPr>
        <p:spPr>
          <a:xfrm>
            <a:off x="841248" y="5349240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12 per kiosk</a:t>
            </a:r>
            <a:pPr indent="0" marL="0">
              <a:buNone/>
            </a:pPr>
            <a:r>
              <a:rPr lang="en-US" sz="1400" dirty="0">
                <a:solidFill>
                  <a:srgbClr val="F3ECE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  ×   pop-ups   =   your deployed field force.   Illustrative 9-kiosk rollout  =  </a:t>
            </a:r>
            <a:pPr indent="0" marL="0">
              <a:buNone/>
            </a:pPr>
            <a:r>
              <a:rPr lang="en-US" sz="1400" b="1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108 trained staff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PEOPLE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 ·  Train  ·  Guarantee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536192"/>
            <a:ext cx="3471672" cy="3337560"/>
          </a:xfrm>
          <a:prstGeom prst="roundRect">
            <a:avLst>
              <a:gd name="adj" fmla="val 1918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10512"/>
            <a:ext cx="457200" cy="45720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89888" y="1810512"/>
            <a:ext cx="246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&amp; Verify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2496312"/>
            <a:ext cx="2968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City-level sourcing &amp; referrals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Prioritise proven prior-season staff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Background verification before deploy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Onboard to payroll, full compliance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58640" y="1536192"/>
            <a:ext cx="3471672" cy="3337560"/>
          </a:xfrm>
          <a:prstGeom prst="roundRect">
            <a:avLst>
              <a:gd name="adj" fmla="val 1918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87240" y="1810512"/>
            <a:ext cx="457200" cy="45720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13" name="Text 10"/>
          <p:cNvSpPr/>
          <p:nvPr/>
        </p:nvSpPr>
        <p:spPr>
          <a:xfrm>
            <a:off x="4587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81600" y="1810512"/>
            <a:ext cx="246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to Doft Standard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2960" y="2496312"/>
            <a:ext cx="2968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100% attendance at Doft's 1-day training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Scheduled 10–21 days before go-live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Completion tracked per candidate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Replacements trained too — always equal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50352" y="1536192"/>
            <a:ext cx="3471672" cy="3337560"/>
          </a:xfrm>
          <a:prstGeom prst="roundRect">
            <a:avLst>
              <a:gd name="adj" fmla="val 1918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78952" y="1810512"/>
            <a:ext cx="457200" cy="45720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18" name="Text 15"/>
          <p:cNvSpPr/>
          <p:nvPr/>
        </p:nvSpPr>
        <p:spPr>
          <a:xfrm>
            <a:off x="837895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73312" y="1810512"/>
            <a:ext cx="246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Zero-Gap Guarantee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424672" y="2496312"/>
            <a:ext cx="2968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~15% trained bench held per city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Immediate same-day replacement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Attrition covered at no extra cost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Trading never stops for a vacancy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" y="5212080"/>
            <a:ext cx="11055096" cy="749808"/>
          </a:xfrm>
          <a:prstGeom prst="roundRect">
            <a:avLst>
              <a:gd name="adj" fmla="val 8537"/>
            </a:avLst>
          </a:prstGeom>
          <a:solidFill>
            <a:srgbClr val="9E5A45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" y="5212080"/>
            <a:ext cx="10506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Contractual commitment:  any attrition after training or during operations is replaced immediately with equally-trained staff — at no additional cost to Doft.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Kiosk, mall coordination &amp; compliance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600200"/>
            <a:ext cx="11055096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83664"/>
            <a:ext cx="457200" cy="457200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27048" y="17099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fabrication &amp; install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44568" y="1709928"/>
            <a:ext cx="6803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On-site fabrication to Doft-approved design; transport, install, maintain, dismantle &amp; return fixtures — with a 3-day buffer before go-live.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2734056"/>
            <a:ext cx="11055096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3017520"/>
            <a:ext cx="457200" cy="457200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27048" y="284378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 coordination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44568" y="2843784"/>
            <a:ext cx="6803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Liaison with mall management; electricity, access passes, loading/unloading and operational approvals.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3867912"/>
            <a:ext cx="11055096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4151376"/>
            <a:ext cx="457200" cy="457200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27048" y="397764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licensing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44568" y="3977640"/>
            <a:ext cx="6803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permissions, licences and documentation — started at T-7 weeks to de-risk go-live.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5001768"/>
            <a:ext cx="11055096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" y="5285232"/>
            <a:ext cx="457200" cy="457200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527048" y="511149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sign-off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544568" y="5111496"/>
            <a:ext cx="6803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Shops &amp; Establishment, GST/e-invoicing, PF/ESIC, insurance, fire &amp; electrical, staff BGV — signed before opening.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stock replenishment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2103120"/>
            <a:ext cx="2420874" cy="2057400"/>
          </a:xfrm>
          <a:prstGeom prst="roundRect">
            <a:avLst>
              <a:gd name="adj" fmla="val 3111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03045" y="2395728"/>
            <a:ext cx="548640" cy="5486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8" name="Text 5"/>
          <p:cNvSpPr/>
          <p:nvPr/>
        </p:nvSpPr>
        <p:spPr>
          <a:xfrm>
            <a:off x="1503045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04088" y="3090672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Ghaziabad Warehouse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3547872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Collect stock from Doft's warehouse; insured in transit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06090" y="2816352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445002" y="2103120"/>
            <a:ext cx="2420874" cy="2057400"/>
          </a:xfrm>
          <a:prstGeom prst="roundRect">
            <a:avLst>
              <a:gd name="adj" fmla="val 3111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1119" y="2395728"/>
            <a:ext cx="548640" cy="5486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14" name="Text 11"/>
          <p:cNvSpPr/>
          <p:nvPr/>
        </p:nvSpPr>
        <p:spPr>
          <a:xfrm>
            <a:off x="4381119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582162" y="3090672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Stockroom (~90 sq ft)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27882" y="3547872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Local buffer beside each kiosk for fast replenishment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84164" y="2816352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23076" y="2103120"/>
            <a:ext cx="2420874" cy="2057400"/>
          </a:xfrm>
          <a:prstGeom prst="roundRect">
            <a:avLst>
              <a:gd name="adj" fmla="val 3111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59193" y="2395728"/>
            <a:ext cx="548640" cy="5486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20" name="Text 17"/>
          <p:cNvSpPr/>
          <p:nvPr/>
        </p:nvSpPr>
        <p:spPr>
          <a:xfrm>
            <a:off x="7259193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60236" y="3090672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Shelf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05956" y="3547872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Daily fill to plan; reorder triggered by minimum levels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762238" y="2816352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9201150" y="2103120"/>
            <a:ext cx="2420874" cy="2057400"/>
          </a:xfrm>
          <a:prstGeom prst="roundRect">
            <a:avLst>
              <a:gd name="adj" fmla="val 3111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137267" y="2395728"/>
            <a:ext cx="548640" cy="548640"/>
          </a:xfrm>
          <a:prstGeom prst="ellipse">
            <a:avLst/>
          </a:prstGeom>
          <a:solidFill>
            <a:srgbClr val="C39A98"/>
          </a:solidFill>
          <a:ln/>
        </p:spPr>
      </p:sp>
      <p:sp>
        <p:nvSpPr>
          <p:cNvPr id="26" name="Text 23"/>
          <p:cNvSpPr/>
          <p:nvPr/>
        </p:nvSpPr>
        <p:spPr>
          <a:xfrm>
            <a:off x="10137267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338310" y="3090672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&amp; Return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384030" y="3547872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Daily counts; unsold inventory returned with full reconciliation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" y="47091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Timely replenishment protects peak-day sales — no stock-outs when footfall is highest.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operations &amp; reporting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Consistent open-to-close execution, with a standard daily report to Doft per kiosk — consolidated by city.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196596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38658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196596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399282" y="196596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8738" y="238658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2" name="Text 9"/>
          <p:cNvSpPr/>
          <p:nvPr/>
        </p:nvSpPr>
        <p:spPr>
          <a:xfrm>
            <a:off x="3902202" y="196596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Footfall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31636" y="196596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51092" y="238658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5" name="Text 12"/>
          <p:cNvSpPr/>
          <p:nvPr/>
        </p:nvSpPr>
        <p:spPr>
          <a:xfrm>
            <a:off x="6734556" y="196596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063990" y="196596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283446" y="238658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8" name="Text 15"/>
          <p:cNvSpPr/>
          <p:nvPr/>
        </p:nvSpPr>
        <p:spPr>
          <a:xfrm>
            <a:off x="9566910" y="196596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66928" y="324612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86384" y="366674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21" name="Text 18"/>
          <p:cNvSpPr/>
          <p:nvPr/>
        </p:nvSpPr>
        <p:spPr>
          <a:xfrm>
            <a:off x="1069848" y="324612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Replenishment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3399282" y="324612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18738" y="366674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24" name="Text 21"/>
          <p:cNvSpPr/>
          <p:nvPr/>
        </p:nvSpPr>
        <p:spPr>
          <a:xfrm>
            <a:off x="3902202" y="324612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31636" y="324612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51092" y="366674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27" name="Text 24"/>
          <p:cNvSpPr/>
          <p:nvPr/>
        </p:nvSpPr>
        <p:spPr>
          <a:xfrm>
            <a:off x="6734556" y="324612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Feedback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9063990" y="3246120"/>
            <a:ext cx="2558034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88900" dist="25400" dir="5400000">
              <a:srgbClr val="CBBBA6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283446" y="3666744"/>
            <a:ext cx="182880" cy="18288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30" name="Text 27"/>
          <p:cNvSpPr/>
          <p:nvPr/>
        </p:nvSpPr>
        <p:spPr>
          <a:xfrm>
            <a:off x="9566910" y="3246120"/>
            <a:ext cx="191795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Issues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566928" y="4892040"/>
            <a:ext cx="11055096" cy="960120"/>
          </a:xfrm>
          <a:prstGeom prst="roundRect">
            <a:avLst>
              <a:gd name="adj" fmla="val 6667"/>
            </a:avLst>
          </a:prstGeom>
          <a:solidFill>
            <a:srgbClr val="4A343A"/>
          </a:solidFill>
          <a:ln/>
        </p:spPr>
      </p:sp>
      <p:sp>
        <p:nvSpPr>
          <p:cNvPr id="32" name="Text 29"/>
          <p:cNvSpPr/>
          <p:nvPr/>
        </p:nvSpPr>
        <p:spPr>
          <a:xfrm>
            <a:off x="841248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GOVERNANCE CADENCE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41248" y="534924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Daily</a:t>
            </a:r>
            <a:pPr indent="0" marL="0">
              <a:buNone/>
            </a:pPr>
            <a:r>
              <a:rPr lang="en-US" sz="1350" dirty="0">
                <a:solidFill>
                  <a:srgbClr val="F3ECE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written report      ·      </a:t>
            </a:r>
            <a:pPr indent="0" marL="0">
              <a:buNone/>
            </a:pPr>
            <a:r>
              <a:rPr lang="en-US" sz="1350" b="1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Weekly</a:t>
            </a:r>
            <a:pPr indent="0" marL="0">
              <a:buNone/>
            </a:pPr>
            <a:r>
              <a:rPr lang="en-US" sz="1350" dirty="0">
                <a:solidFill>
                  <a:srgbClr val="F3ECE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city review call      ·      </a:t>
            </a:r>
            <a:pPr indent="0" marL="0">
              <a:buNone/>
            </a:pPr>
            <a:r>
              <a:rPr lang="en-US" sz="1350" b="1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End-of-season</a:t>
            </a:r>
            <a:pPr indent="0" marL="0">
              <a:buNone/>
            </a:pPr>
            <a:r>
              <a:rPr lang="en-US" sz="1350" dirty="0">
                <a:solidFill>
                  <a:srgbClr val="F3ECE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reconciliation &amp; review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44168" y="3154680"/>
            <a:ext cx="9500616" cy="0"/>
          </a:xfrm>
          <a:prstGeom prst="line">
            <a:avLst/>
          </a:prstGeom>
          <a:noFill/>
          <a:ln w="25400">
            <a:solidFill>
              <a:srgbClr val="C39A9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T-8w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0756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Award &amp; kick-off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44168" y="2624328"/>
            <a:ext cx="0" cy="530352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3584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11" name="Text 8"/>
          <p:cNvSpPr/>
          <p:nvPr/>
        </p:nvSpPr>
        <p:spPr>
          <a:xfrm>
            <a:off x="1924159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T-7w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924159" y="39044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Malls &amp; licences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01399" y="3154680"/>
            <a:ext cx="0" cy="457200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0815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15" name="Text 12"/>
          <p:cNvSpPr/>
          <p:nvPr/>
        </p:nvSpPr>
        <p:spPr>
          <a:xfrm>
            <a:off x="328139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T-6w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81390" y="20756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Recruit &amp; BGV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058630" y="2624328"/>
            <a:ext cx="0" cy="530352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58046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19" name="Text 16"/>
          <p:cNvSpPr/>
          <p:nvPr/>
        </p:nvSpPr>
        <p:spPr>
          <a:xfrm>
            <a:off x="4638621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T-3w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38621" y="39044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Kiosk fit-out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15861" y="3154680"/>
            <a:ext cx="0" cy="457200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15277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23" name="Text 20"/>
          <p:cNvSpPr/>
          <p:nvPr/>
        </p:nvSpPr>
        <p:spPr>
          <a:xfrm>
            <a:off x="5995851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T-2w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95851" y="20756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Doft training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73091" y="2624328"/>
            <a:ext cx="0" cy="530352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72507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27" name="Text 24"/>
          <p:cNvSpPr/>
          <p:nvPr/>
        </p:nvSpPr>
        <p:spPr>
          <a:xfrm>
            <a:off x="7353082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T-1w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353082" y="39044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Stock &amp; first fill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130322" y="3154680"/>
            <a:ext cx="0" cy="457200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29738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31" name="Text 28"/>
          <p:cNvSpPr/>
          <p:nvPr/>
        </p:nvSpPr>
        <p:spPr>
          <a:xfrm>
            <a:off x="8710313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710313" y="20756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Go-live — ops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487553" y="2624328"/>
            <a:ext cx="0" cy="530352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86969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35" name="Text 32"/>
          <p:cNvSpPr/>
          <p:nvPr/>
        </p:nvSpPr>
        <p:spPr>
          <a:xfrm>
            <a:off x="10067544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T+6w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067544" y="39044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Dismantle &amp; review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10844784" y="3154680"/>
            <a:ext cx="0" cy="457200"/>
          </a:xfrm>
          <a:prstGeom prst="line">
            <a:avLst/>
          </a:prstGeom>
          <a:noFill/>
          <a:ln w="12700">
            <a:solidFill>
              <a:srgbClr val="E3D8C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744200" y="3054096"/>
            <a:ext cx="201168" cy="201168"/>
          </a:xfrm>
          <a:prstGeom prst="ellipse">
            <a:avLst/>
          </a:prstGeom>
          <a:solidFill>
            <a:srgbClr val="4A343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57150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Relative to go-live (T). Operations run 3–5 weeks per the brief. Full per-region Gantt is in the operations workbook.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120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ROLLOUT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illustrative first-season footprint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starting scenario for a premium brand — fully scalable. Final cities &amp; kiosk counts are yours to set.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41192" cy="1691640"/>
          </a:xfrm>
          <a:prstGeom prst="roundRect">
            <a:avLst>
              <a:gd name="adj" fmla="val 3784"/>
            </a:avLst>
          </a:prstGeom>
          <a:solidFill>
            <a:srgbClr val="3A2830"/>
          </a:solidFill>
          <a:ln w="12700">
            <a:solidFill>
              <a:srgbClr val="5C40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606040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Delhi-NCR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 kiosks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3880" y="2286000"/>
            <a:ext cx="3441192" cy="1691640"/>
          </a:xfrm>
          <a:prstGeom prst="roundRect">
            <a:avLst>
              <a:gd name="adj" fmla="val 3784"/>
            </a:avLst>
          </a:prstGeom>
          <a:solidFill>
            <a:srgbClr val="3A2830"/>
          </a:solidFill>
          <a:ln w="12700">
            <a:solidFill>
              <a:srgbClr val="5C4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8200" y="2606040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48200" y="32461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 kiosks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0832" y="2286000"/>
            <a:ext cx="3441192" cy="1691640"/>
          </a:xfrm>
          <a:prstGeom prst="roundRect">
            <a:avLst>
              <a:gd name="adj" fmla="val 3784"/>
            </a:avLst>
          </a:prstGeom>
          <a:solidFill>
            <a:srgbClr val="3A2830"/>
          </a:solidFill>
          <a:ln w="12700">
            <a:solidFill>
              <a:srgbClr val="5C4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5152" y="2606040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55152" y="32461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 kiosks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343400"/>
            <a:ext cx="0" cy="1325880"/>
          </a:xfrm>
          <a:prstGeom prst="line">
            <a:avLst/>
          </a:prstGeom>
          <a:noFill/>
          <a:ln w="25400">
            <a:solidFill>
              <a:srgbClr val="B89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343400"/>
            <a:ext cx="2306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49808" y="5184648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Total kiosks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2142" y="4343400"/>
            <a:ext cx="0" cy="1325880"/>
          </a:xfrm>
          <a:prstGeom prst="line">
            <a:avLst/>
          </a:prstGeom>
          <a:noFill/>
          <a:ln w="25400">
            <a:solidFill>
              <a:srgbClr val="B89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5022" y="4343400"/>
            <a:ext cx="2306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605022" y="5184648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Trained staff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4343400"/>
            <a:ext cx="0" cy="1325880"/>
          </a:xfrm>
          <a:prstGeom prst="line">
            <a:avLst/>
          </a:prstGeom>
          <a:noFill/>
          <a:ln w="25400">
            <a:solidFill>
              <a:srgbClr val="B89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0236" y="4343400"/>
            <a:ext cx="2306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wks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460236" y="5184648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Operating window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2570" y="4343400"/>
            <a:ext cx="0" cy="1325880"/>
          </a:xfrm>
          <a:prstGeom prst="line">
            <a:avLst/>
          </a:prstGeom>
          <a:noFill/>
          <a:ln w="25400">
            <a:solidFill>
              <a:srgbClr val="B89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15450" y="4343400"/>
            <a:ext cx="2306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315450" y="5184648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Committed through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Scenario only — the brief specifies 2–4 pop-ups per region across multiple cities. Change two inputs in the workbook to re-scope.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B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COMMERCIALS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built-up cost model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Priced bottom-up per kiosk, then rolled up. Every line is an editable input in the workbook.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87452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126480" y="1920240"/>
            <a:ext cx="5495544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09360" y="1920240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Direct cost / kiosk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884664" y="1920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11.3 L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26480" y="2542032"/>
            <a:ext cx="5495544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9360" y="2542032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 Management margin (15%)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884664" y="25420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1.7 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480" y="3163824"/>
            <a:ext cx="5495544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09360" y="3163824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Contract value / kiosk (pre-GST)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884664" y="31638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12.9 L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26480" y="3785616"/>
            <a:ext cx="5495544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3785616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× 9 kiosks (illustrative)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884664" y="37856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E5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1.16 Cr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126480" y="4407408"/>
            <a:ext cx="5495544" cy="566928"/>
          </a:xfrm>
          <a:prstGeom prst="roundRect">
            <a:avLst>
              <a:gd name="adj" fmla="val 8065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09360" y="4407408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 GST (18%)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9884664" y="44074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0.21 Cr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126480" y="5029200"/>
            <a:ext cx="5495544" cy="566928"/>
          </a:xfrm>
          <a:prstGeom prst="roundRect">
            <a:avLst>
              <a:gd name="adj" fmla="val 8065"/>
            </a:avLst>
          </a:prstGeom>
          <a:solidFill>
            <a:srgbClr val="4A343A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09360" y="5029200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Total programme (incl. GST)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84664" y="5029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B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1.37 Cr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* Mall licence / space fee is the biggest swing item and is often reimbursed by the brand. Figures illustrative at placeholder rates.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protect the season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691640"/>
            <a:ext cx="4297680" cy="457200"/>
          </a:xfrm>
          <a:prstGeom prst="rect">
            <a:avLst/>
          </a:prstGeom>
          <a:solidFill>
            <a:srgbClr val="4A343A"/>
          </a:solidFill>
          <a:ln/>
        </p:spPr>
      </p:sp>
      <p:sp>
        <p:nvSpPr>
          <p:cNvPr id="7" name="Shape 4"/>
          <p:cNvSpPr/>
          <p:nvPr/>
        </p:nvSpPr>
        <p:spPr>
          <a:xfrm>
            <a:off x="4864608" y="1691640"/>
            <a:ext cx="6757416" cy="457200"/>
          </a:xfrm>
          <a:prstGeom prst="rect">
            <a:avLst/>
          </a:prstGeom>
          <a:solidFill>
            <a:srgbClr val="3A2830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RISK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93208" y="1691640"/>
            <a:ext cx="6391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2148840"/>
            <a:ext cx="11055096" cy="749808"/>
          </a:xfrm>
          <a:prstGeom prst="rect">
            <a:avLst/>
          </a:prstGeom>
          <a:solidFill>
            <a:srgbClr val="EADFCE"/>
          </a:solidFill>
          <a:ln w="6350">
            <a:solidFill>
              <a:srgbClr val="E3D8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1488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attrition after training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93208" y="2148840"/>
            <a:ext cx="6300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15% trained bench; same-day no-cost replacement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898648"/>
            <a:ext cx="11055096" cy="749808"/>
          </a:xfrm>
          <a:prstGeom prst="rect">
            <a:avLst/>
          </a:prstGeom>
          <a:solidFill>
            <a:srgbClr val="FCFAF5"/>
          </a:solidFill>
          <a:ln w="6350">
            <a:solidFill>
              <a:srgbClr val="E3D8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28986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 permission delays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93208" y="2898648"/>
            <a:ext cx="6300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Licensing kicked off at T-7w; parallel mall shortlist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3648456"/>
            <a:ext cx="11055096" cy="749808"/>
          </a:xfrm>
          <a:prstGeom prst="rect">
            <a:avLst/>
          </a:prstGeom>
          <a:solidFill>
            <a:srgbClr val="EADFCE"/>
          </a:solidFill>
          <a:ln w="6350">
            <a:solidFill>
              <a:srgbClr val="E3D8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" y="364845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Stock-out on peak days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93208" y="3648456"/>
            <a:ext cx="6300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Reorder levels + daily replenishment from stockroom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4398264"/>
            <a:ext cx="11055096" cy="749808"/>
          </a:xfrm>
          <a:prstGeom prst="rect">
            <a:avLst/>
          </a:prstGeom>
          <a:solidFill>
            <a:srgbClr val="FCFAF5"/>
          </a:solidFill>
          <a:ln w="6350">
            <a:solidFill>
              <a:srgbClr val="E3D8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439826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/ EDC downtime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93208" y="4398264"/>
            <a:ext cx="6300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Backup EDC + connectivity failover; trained cashier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5148072"/>
            <a:ext cx="11055096" cy="749808"/>
          </a:xfrm>
          <a:prstGeom prst="rect">
            <a:avLst/>
          </a:prstGeom>
          <a:solidFill>
            <a:srgbClr val="EADFCE"/>
          </a:solidFill>
          <a:ln w="6350">
            <a:solidFill>
              <a:srgbClr val="E3D8C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" y="51480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fabrication delay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093208" y="5148072"/>
            <a:ext cx="6300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Vendor SLA + 3-day buffer before go-live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92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operations workbook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40696" y="420624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5" name="Image 0" descr="assets/final/promarcom_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507412"/>
            <a:ext cx="1243584" cy="283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This deck ships with a live Excel workbook — the operating system for the engagement. Edit the assumptions; everything recalculates.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2011680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0116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44168" y="2011680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99282" y="2011680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82162" y="20116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76522" y="2011680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 Timeline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31636" y="2011680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4516" y="20116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08876" y="2011680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Staffing Plan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63990" y="2011680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46870" y="20116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841230" y="2011680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Manpower Cost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3072384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307238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44168" y="3072384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Budget Summary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99282" y="3072384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82162" y="307238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176522" y="3072384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Recruitment Tracker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31636" y="3072384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14516" y="307238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008876" y="3072384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063990" y="3072384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46870" y="307238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841230" y="3072384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Daily Sales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66928" y="4133088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808" y="413308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344168" y="4133088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Inventory &amp; Replenish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399282" y="4133088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82162" y="413308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176522" y="4133088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Footfall &amp; Conversion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231636" y="4133088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14516" y="413308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7008876" y="4133088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Customer Feedback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9063990" y="4133088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246870" y="413308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9841230" y="4133088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Compliance Checklist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66928" y="5193792"/>
            <a:ext cx="2558034" cy="841248"/>
          </a:xfrm>
          <a:prstGeom prst="roundRect">
            <a:avLst>
              <a:gd name="adj" fmla="val 7609"/>
            </a:avLst>
          </a:prstGeom>
          <a:solidFill>
            <a:srgbClr val="FCFAF5"/>
          </a:solidFill>
          <a:ln w="12700">
            <a:solidFill>
              <a:srgbClr val="E3D8C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519379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344168" y="5193792"/>
            <a:ext cx="164363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30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Risk Register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C7F7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ProMarcom  ×  Doft Candles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18311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inal/doft_gift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0" y="0"/>
            <a:ext cx="40507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0"/>
            <a:ext cx="1005840" cy="6858000"/>
          </a:xfrm>
          <a:prstGeom prst="rect">
            <a:avLst/>
          </a:prstGeom>
          <a:solidFill>
            <a:srgbClr val="4A343A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118872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Doft's Diwali unmissable.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66928" y="2788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premium retail partner with proven mall, VM and multi-city manpower experience — committed to Doft for Diwali 2026, 2027 and 2028.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" y="3840480"/>
            <a:ext cx="7040880" cy="0"/>
          </a:xfrm>
          <a:prstGeom prst="line">
            <a:avLst/>
          </a:prstGeom>
          <a:noFill/>
          <a:ln w="19050">
            <a:solidFill>
              <a:srgbClr val="B892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023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72768" y="402336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8C7"/>
            </a:solidFill>
            <a:prstDash val="solid"/>
          </a:ln>
          <a:effectLst>
            <a:outerShdw sx="100000" sy="100000" kx="0" ky="0" algn="bl" rotWithShape="0" blurRad="50800" dist="12700" dir="5400000">
              <a:srgbClr val="B8A894">
                <a:alpha val="35000"/>
              </a:srgbClr>
            </a:outerShdw>
          </a:effectLst>
        </p:spPr>
      </p:sp>
      <p:pic>
        <p:nvPicPr>
          <p:cNvPr id="9" name="Image 1" descr="assets/final/promarcom_logo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4091379"/>
            <a:ext cx="1408176" cy="32116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93008" y="3950208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9B4AC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3493008" y="40050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O  F  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493008" y="42976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spc="100" kern="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client logo — placeholder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66928" y="4846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Prashant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66928" y="5138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+91 99538 88889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66928" y="5449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prashant@eventsactive.com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224528" y="4846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B86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Web  ·  USA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224528" y="5138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www.eventsactive.com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224528" y="5449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4A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Padma  ·  +1 (408) 679-7148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70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Prepared as a planning response to the Doft Candles Request for Contractor. Figures illustrative at placeholder rates.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ProMarcom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ProMarcom for Doft Candles — Diwali Pop-Up Retail Operations</dc:title>
  <dc:subject>PptxGenJS Presentation</dc:subject>
  <dc:creator>ProMarcom Inc.</dc:creator>
  <cp:lastModifiedBy>ProMarcom Inc.</cp:lastModifiedBy>
  <cp:revision>1</cp:revision>
  <dcterms:created xsi:type="dcterms:W3CDTF">2026-07-30T05:32:39Z</dcterms:created>
  <dcterms:modified xsi:type="dcterms:W3CDTF">2026-07-30T05:32:39Z</dcterms:modified>
</cp:coreProperties>
</file>