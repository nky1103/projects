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Per-kiosk cost heads (₹'000)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9A24B"/>
              </a:solidFill>
              <a:effectLst/>
            </c:spPr>
          </c:dPt>
          <c:dPt>
            <c:idx val="1"/>
            <c:bubble3D val="0"/>
            <c:spPr>
              <a:solidFill>
                <a:srgbClr val="B05C6B"/>
              </a:solidFill>
              <a:effectLst/>
            </c:spPr>
          </c:dPt>
          <c:dPt>
            <c:idx val="2"/>
            <c:bubble3D val="0"/>
            <c:spPr>
              <a:solidFill>
                <a:srgbClr val="20182B"/>
              </a:solidFill>
              <a:effectLst/>
            </c:spPr>
          </c:dPt>
          <c:dPt>
            <c:idx val="3"/>
            <c:bubble3D val="0"/>
            <c:spPr>
              <a:solidFill>
                <a:srgbClr val="37294D"/>
              </a:solidFill>
              <a:effectLst/>
            </c:spPr>
          </c:dPt>
          <c:dPt>
            <c:idx val="4"/>
            <c:bubble3D val="0"/>
            <c:spPr>
              <a:solidFill>
                <a:srgbClr val="9C8FB0"/>
              </a:solidFill>
              <a:effectLst/>
            </c:spPr>
          </c:dPt>
          <c:dPt>
            <c:idx val="5"/>
            <c:bubble3D val="0"/>
            <c:spPr>
              <a:solidFill>
                <a:srgbClr val="C9BFD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Manpower</c:v>
                </c:pt>
                <c:pt idx="1">
                  <c:v>Mall licence*</c:v>
                </c:pt>
                <c:pt idx="2">
                  <c:v>Kiosk fabrication</c:v>
                </c:pt>
                <c:pt idx="3">
                  <c:v>Logistics &amp; stockroom</c:v>
                </c:pt>
                <c:pt idx="4">
                  <c:v>Welfare &amp; incentives</c:v>
                </c:pt>
                <c:pt idx="5">
                  <c:v>Other setup &amp; compliance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393</c:v>
                </c:pt>
                <c:pt idx="1">
                  <c:v>250</c:v>
                </c:pt>
                <c:pt idx="2">
                  <c:v>225</c:v>
                </c:pt>
                <c:pt idx="3">
                  <c:v>100</c:v>
                </c:pt>
                <c:pt idx="4">
                  <c:v>55</c:v>
                </c:pt>
                <c:pt idx="5">
                  <c:v>102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2B3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280160"/>
            <a:ext cx="4206240" cy="4206240"/>
          </a:xfrm>
          <a:prstGeom prst="ellipse">
            <a:avLst/>
          </a:prstGeom>
          <a:solidFill>
            <a:srgbClr val="37294D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206240"/>
            <a:ext cx="3108960" cy="3108960"/>
          </a:xfrm>
          <a:prstGeom prst="ellipse">
            <a:avLst/>
          </a:prstGeom>
          <a:solidFill>
            <a:srgbClr val="37294D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914400"/>
            <a:ext cx="164592" cy="164592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1170432" y="914400"/>
            <a:ext cx="164592" cy="164592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6" name="Shape 4"/>
          <p:cNvSpPr/>
          <p:nvPr/>
        </p:nvSpPr>
        <p:spPr>
          <a:xfrm>
            <a:off x="1426464" y="914400"/>
            <a:ext cx="164592" cy="164592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PROMARCOM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1691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spc="100" kern="0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Marketing Innovations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4688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Diwali Pop-Up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914400" y="3310128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 Operations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91440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9E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 Execution &amp; Partnership Proposal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4892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 </a:t>
            </a:r>
            <a:pPr indent="0" marL="0">
              <a:buNone/>
            </a:pPr>
            <a:r>
              <a:rPr lang="en-US" sz="1400" b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Doft Candles</a:t>
            </a:r>
            <a:pPr indent="0" marL="0">
              <a:buNone/>
            </a:pPr>
            <a:r>
              <a:rPr lang="en-US" sz="14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|     Diwali Seasons 2026 · 2027 · 2028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5623560"/>
            <a:ext cx="411480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760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C2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“We help you fly higher — from concept to completion.”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 Your Brief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seasonal pop-up kiosks in leading malls, staffed and run end-to-end — a long-term partner for Diwali 2026–28.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48386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16712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3–5 wks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77240" y="271576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window before Diwali, each season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52544" y="1965960"/>
            <a:ext cx="348386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1144" y="216712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~300 sq ft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81144" y="271576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Kiosk footprint + ~90 sq ft stockroom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56448" y="1965960"/>
            <a:ext cx="348386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85048" y="216712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8385048" y="271576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Pop-ups per region, across multiple cities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703320"/>
            <a:ext cx="348386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90448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/ kiosk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77240" y="445312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staffing team per pop-up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52544" y="3703320"/>
            <a:ext cx="348386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81144" y="390448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1-day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581144" y="445312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Doft product &amp; sales training, 100% attendance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56448" y="3703320"/>
            <a:ext cx="348386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85048" y="390448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 supplies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8385048" y="445312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Stock, furniture, POS/EDC, returnable uniforms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PROMARCOM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partner built for premium mall retail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(EventsActive) delivers below-the-line, retail and experiential marketing end-to-end — concept, design, fabrication, manpower, operations and reporting.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567178" cy="3108960"/>
          </a:xfrm>
          <a:prstGeom prst="roundRect">
            <a:avLst>
              <a:gd name="adj" fmla="val 2850"/>
            </a:avLst>
          </a:prstGeom>
          <a:solidFill>
            <a:srgbClr val="37294D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606040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4672" y="3291840"/>
            <a:ext cx="20551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Mall &amp; Retail Promotions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4114800"/>
            <a:ext cx="205511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Multi-month mall activations and in-shop demonstrations for global brands.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90138" y="2286000"/>
            <a:ext cx="2567178" cy="3108960"/>
          </a:xfrm>
          <a:prstGeom prst="roundRect">
            <a:avLst>
              <a:gd name="adj" fmla="val 2850"/>
            </a:avLst>
          </a:prstGeom>
          <a:solidFill>
            <a:srgbClr val="37294D"/>
          </a:solidFill>
          <a:ln/>
        </p:spPr>
      </p:sp>
      <p:sp>
        <p:nvSpPr>
          <p:cNvPr id="11" name="Shape 9"/>
          <p:cNvSpPr/>
          <p:nvPr/>
        </p:nvSpPr>
        <p:spPr>
          <a:xfrm>
            <a:off x="3664458" y="2606040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366445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46170" y="3291840"/>
            <a:ext cx="20551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 VM — Premium Brands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46170" y="4114800"/>
            <a:ext cx="205511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Show-windows &amp; VM for Burberry, Louis Vuitton, LG, Samsung across 90+ cities.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1636" y="2286000"/>
            <a:ext cx="2567178" cy="3108960"/>
          </a:xfrm>
          <a:prstGeom prst="roundRect">
            <a:avLst>
              <a:gd name="adj" fmla="val 2850"/>
            </a:avLst>
          </a:prstGeom>
          <a:solidFill>
            <a:srgbClr val="37294D"/>
          </a:solidFill>
          <a:ln/>
        </p:spPr>
      </p:sp>
      <p:sp>
        <p:nvSpPr>
          <p:cNvPr id="16" name="Shape 14"/>
          <p:cNvSpPr/>
          <p:nvPr/>
        </p:nvSpPr>
        <p:spPr>
          <a:xfrm>
            <a:off x="6505956" y="2606040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7" name="Text 15"/>
          <p:cNvSpPr/>
          <p:nvPr/>
        </p:nvSpPr>
        <p:spPr>
          <a:xfrm>
            <a:off x="650595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87668" y="3291840"/>
            <a:ext cx="20551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Manpower at Scale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87668" y="4114800"/>
            <a:ext cx="205511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Recruit, train, deploy &amp; manage large field teams with tracking and reporting.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73134" y="2286000"/>
            <a:ext cx="2567178" cy="3108960"/>
          </a:xfrm>
          <a:prstGeom prst="roundRect">
            <a:avLst>
              <a:gd name="adj" fmla="val 2850"/>
            </a:avLst>
          </a:prstGeom>
          <a:solidFill>
            <a:srgbClr val="37294D"/>
          </a:solidFill>
          <a:ln/>
        </p:spPr>
      </p:sp>
      <p:sp>
        <p:nvSpPr>
          <p:cNvPr id="21" name="Shape 19"/>
          <p:cNvSpPr/>
          <p:nvPr/>
        </p:nvSpPr>
        <p:spPr>
          <a:xfrm>
            <a:off x="9347454" y="2606040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2" name="Text 20"/>
          <p:cNvSpPr/>
          <p:nvPr/>
        </p:nvSpPr>
        <p:spPr>
          <a:xfrm>
            <a:off x="9347454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329166" y="3291840"/>
            <a:ext cx="20551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Exhibitions, MICE &amp; Events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329166" y="4114800"/>
            <a:ext cx="205511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1,000–24,000 sqm exhibitions; events for LG, Samsung, HP, ICC World Cup.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proven track record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178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8308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90+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22014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 covered for retail VM &amp; activations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90138" y="1554480"/>
            <a:ext cx="2567178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73018" y="178308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3,000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73018" y="2468880"/>
            <a:ext cx="22014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Man-days on a single multi-city retail rollout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1636" y="1554480"/>
            <a:ext cx="2567178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14516" y="178308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24,000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14516" y="2468880"/>
            <a:ext cx="22014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of exhibition floor managed (max)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73134" y="1554480"/>
            <a:ext cx="2567178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256014" y="178308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6+ yrs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56014" y="2468880"/>
            <a:ext cx="22014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LG's BTL / retail / digital partner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6118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by leading brands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169621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069080"/>
            <a:ext cx="16047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27732" y="4069080"/>
            <a:ext cx="169621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73452" y="4069080"/>
            <a:ext cx="16047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Samsung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06824" y="4069080"/>
            <a:ext cx="169621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52544" y="4069080"/>
            <a:ext cx="16047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Hewlett-Packard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85916" y="4069080"/>
            <a:ext cx="169621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31636" y="4069080"/>
            <a:ext cx="16047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Bajaj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65008" y="4069080"/>
            <a:ext cx="169621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10728" y="4069080"/>
            <a:ext cx="16047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Castrol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944100" y="4069080"/>
            <a:ext cx="169621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989820" y="4069080"/>
            <a:ext cx="16047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Pepsi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4800600"/>
            <a:ext cx="169621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4800600"/>
            <a:ext cx="16047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ITC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427732" y="4800600"/>
            <a:ext cx="169621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73452" y="4800600"/>
            <a:ext cx="16047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Burberry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06824" y="4800600"/>
            <a:ext cx="169621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52544" y="4800600"/>
            <a:ext cx="16047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Louis Vuitton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185916" y="4800600"/>
            <a:ext cx="169621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31636" y="4800600"/>
            <a:ext cx="16047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Panasonic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065008" y="4800600"/>
            <a:ext cx="169621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10728" y="4800600"/>
            <a:ext cx="16047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Pearson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944100" y="4800600"/>
            <a:ext cx="169621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89820" y="4800600"/>
            <a:ext cx="16047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ICC World Cup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48640" y="5943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selection from ProMarcom credentials, 2022.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EXPERIENCE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have run exactly this before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83864" cy="4023360"/>
          </a:xfrm>
          <a:prstGeom prst="roundRect">
            <a:avLst>
              <a:gd name="adj" fmla="val 21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00200"/>
            <a:ext cx="3483864" cy="1005840"/>
          </a:xfrm>
          <a:prstGeom prst="roundRect">
            <a:avLst>
              <a:gd name="adj" fmla="val 7273"/>
            </a:avLst>
          </a:prstGeom>
          <a:solidFill>
            <a:srgbClr val="20182B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03120"/>
            <a:ext cx="3483864" cy="502920"/>
          </a:xfrm>
          <a:prstGeom prst="rect">
            <a:avLst/>
          </a:prstGeom>
          <a:solidFill>
            <a:srgbClr val="20182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64792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 — Mall Promotions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221992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 &amp; Bengaluru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2834640"/>
            <a:ext cx="302666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3-month mall promotion program: concept, set-up &amp; fabrication, manpower, props, retail merchandising, logistics and reporting.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52544" y="1600200"/>
            <a:ext cx="3483864" cy="4023360"/>
          </a:xfrm>
          <a:prstGeom prst="roundRect">
            <a:avLst>
              <a:gd name="adj" fmla="val 21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52544" y="1600200"/>
            <a:ext cx="3483864" cy="1005840"/>
          </a:xfrm>
          <a:prstGeom prst="roundRect">
            <a:avLst>
              <a:gd name="adj" fmla="val 7273"/>
            </a:avLst>
          </a:prstGeom>
          <a:solidFill>
            <a:srgbClr val="20182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52544" y="2103120"/>
            <a:ext cx="3483864" cy="502920"/>
          </a:xfrm>
          <a:prstGeom prst="rect">
            <a:avLst/>
          </a:prstGeom>
          <a:solidFill>
            <a:srgbClr val="20182B"/>
          </a:solidFill>
          <a:ln/>
        </p:spPr>
      </p:sp>
      <p:sp>
        <p:nvSpPr>
          <p:cNvPr id="13" name="Text 11"/>
          <p:cNvSpPr/>
          <p:nvPr/>
        </p:nvSpPr>
        <p:spPr>
          <a:xfrm>
            <a:off x="4581144" y="1764792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Burberry &amp; Louis Vuitton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81144" y="2221992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Retail VM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81144" y="2834640"/>
            <a:ext cx="302666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show-windows, in-shop props and merchandise for luxury brands — the premium standard Doft demands.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56448" y="1600200"/>
            <a:ext cx="3483864" cy="4023360"/>
          </a:xfrm>
          <a:prstGeom prst="roundRect">
            <a:avLst>
              <a:gd name="adj" fmla="val 21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56448" y="1600200"/>
            <a:ext cx="3483864" cy="1005840"/>
          </a:xfrm>
          <a:prstGeom prst="roundRect">
            <a:avLst>
              <a:gd name="adj" fmla="val 7273"/>
            </a:avLst>
          </a:prstGeom>
          <a:solidFill>
            <a:srgbClr val="20182B"/>
          </a:solidFill>
          <a:ln/>
        </p:spPr>
      </p:sp>
      <p:sp>
        <p:nvSpPr>
          <p:cNvPr id="18" name="Shape 16"/>
          <p:cNvSpPr/>
          <p:nvPr/>
        </p:nvSpPr>
        <p:spPr>
          <a:xfrm>
            <a:off x="8156448" y="2103120"/>
            <a:ext cx="3483864" cy="502920"/>
          </a:xfrm>
          <a:prstGeom prst="rect">
            <a:avLst/>
          </a:prstGeom>
          <a:solidFill>
            <a:srgbClr val="20182B"/>
          </a:solidFill>
          <a:ln/>
        </p:spPr>
      </p:sp>
      <p:sp>
        <p:nvSpPr>
          <p:cNvPr id="19" name="Text 17"/>
          <p:cNvSpPr/>
          <p:nvPr/>
        </p:nvSpPr>
        <p:spPr>
          <a:xfrm>
            <a:off x="8385048" y="1764792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LG Cookie Pep Carnival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85048" y="2221992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70+ cities · 3,000 man-days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385048" y="2834640"/>
            <a:ext cx="302666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Shop-to-shop retail activation series across India — proof of multi-city manpower at scale.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accountable partner, end to end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13232" y="2194560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 Build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3232" y="25603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On-site fabrication &amp; install to Doft design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02152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02152" y="2194560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Mall &amp; Legal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02152" y="25603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Liaison, licences, permits, approvals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91072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91072" y="2194560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91072" y="25603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Ghaziabad pickup, replenishment, returns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1540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79992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79992" y="2194560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Recruit &amp; Staff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079992" y="25603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Hire, BGV, payroll, statutory compliance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920240" y="35204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20182B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084832" y="3657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084832" y="3977640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084832" y="43434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attendance + trained bench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5204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20182B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873752" y="3657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873752" y="3977640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 Ops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873752" y="43434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Open–close, sales, POS, VM, cash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498080" y="35204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20182B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662672" y="3657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662672" y="3977640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662672" y="43434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sales, footfall, stock, attendance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2578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7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Team Leader on ProMarcom's payroll owns daily operations at every kiosk — your one point of contact.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people per kiosk — exactly to brief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83864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56232"/>
            <a:ext cx="777240" cy="777240"/>
          </a:xfrm>
          <a:prstGeom prst="ellipse">
            <a:avLst/>
          </a:prstGeom>
          <a:solidFill>
            <a:srgbClr val="F6F1E9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8562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691640" y="18745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Executives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91640" y="2313432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Female, 22–25, fluent English, retail experience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52544" y="1600200"/>
            <a:ext cx="3483864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53712" y="1856232"/>
            <a:ext cx="777240" cy="777240"/>
          </a:xfrm>
          <a:prstGeom prst="ellipse">
            <a:avLst/>
          </a:prstGeom>
          <a:solidFill>
            <a:srgbClr val="F6F1E9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8562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495544" y="18745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Support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495544" y="2313432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Merchandising, stock, queue management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56448" y="1600200"/>
            <a:ext cx="3483864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1856232"/>
            <a:ext cx="777240" cy="777240"/>
          </a:xfrm>
          <a:prstGeom prst="ellipse">
            <a:avLst/>
          </a:prstGeom>
          <a:solidFill>
            <a:srgbClr val="F6F1E9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57616" y="18562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9299448" y="18745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Helper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9299448" y="2313432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 &amp; material handling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520440"/>
            <a:ext cx="3483864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3776472"/>
            <a:ext cx="777240" cy="777240"/>
          </a:xfrm>
          <a:prstGeom prst="ellipse">
            <a:avLst/>
          </a:prstGeom>
          <a:solidFill>
            <a:srgbClr val="F6F1E9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37764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691640" y="379476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Cashier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691640" y="4233672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on POS / EDC machines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52544" y="3520440"/>
            <a:ext cx="3483864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53712" y="3776472"/>
            <a:ext cx="777240" cy="777240"/>
          </a:xfrm>
          <a:prstGeom prst="ellipse">
            <a:avLst/>
          </a:prstGeom>
          <a:solidFill>
            <a:srgbClr val="F6F1E9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37764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5495544" y="379476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Driver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5495544" y="4233672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transport &amp; replenishment runs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156448" y="3520440"/>
            <a:ext cx="3483864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57616" y="3776472"/>
            <a:ext cx="777240" cy="777240"/>
          </a:xfrm>
          <a:prstGeom prst="ellipse">
            <a:avLst/>
          </a:prstGeom>
          <a:solidFill>
            <a:srgbClr val="20182B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57616" y="37764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9299448" y="379476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Leader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9299448" y="4233672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 ProMarcom employee — ops owner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5394960"/>
            <a:ext cx="11091672" cy="640080"/>
          </a:xfrm>
          <a:prstGeom prst="roundRect">
            <a:avLst>
              <a:gd name="adj" fmla="val 11429"/>
            </a:avLst>
          </a:prstGeom>
          <a:solidFill>
            <a:srgbClr val="20182B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" y="539496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per kiosk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×   pop-ups   =   your deployed field force.   Illustrative 9-kiosk rollout = </a:t>
            </a:r>
            <a:pPr indent="0" marL="0">
              <a:buNone/>
            </a:pPr>
            <a:r>
              <a:rPr lang="en-US" sz="1500" b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 trained staff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Recruit → Train → Guarantee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83864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87452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Recruit &amp; Verify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293522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City-level sourcing &amp; referrals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proven prior-season staff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verification before deploy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to payroll, full statutory compliance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52544" y="1600200"/>
            <a:ext cx="3483864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81144" y="1856232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1" name="Text 9"/>
          <p:cNvSpPr/>
          <p:nvPr/>
        </p:nvSpPr>
        <p:spPr>
          <a:xfrm>
            <a:off x="4581144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175504" y="187452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 to Doft Standard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626864" y="2560320"/>
            <a:ext cx="293522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100% attendance at Doft's 1-day training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10–21 days before go-live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tracked per candidate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 staff trained too — always equally skilled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6448" y="1600200"/>
            <a:ext cx="3483864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85048" y="1856232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6" name="Text 14"/>
          <p:cNvSpPr/>
          <p:nvPr/>
        </p:nvSpPr>
        <p:spPr>
          <a:xfrm>
            <a:off x="8385048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979408" y="187452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Zero-Gap Guarantee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430768" y="2560320"/>
            <a:ext cx="293522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~15% trained bench held per city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same-day replacement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attrition covered at no extra cost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never stops for a vacancy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2578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B05C6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525780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Contractual commitment:  any attrition after training or during operations is replaced immediately with equally-trained staff — at no additional cost to Doft.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Kiosk, mall coordination &amp; compliance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457200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755648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 fabrication &amp; install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26280" y="1755648"/>
            <a:ext cx="6839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On-site fabrication to Doft-approved design; transport, install, maintain, dismantle &amp; return fixtures — with a 3-day buffer before go-live.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61488"/>
            <a:ext cx="11091672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035808"/>
            <a:ext cx="457200" cy="457200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2871216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Mall coordination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26280" y="2871216"/>
            <a:ext cx="6839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Liaison with mall management; electricity, access passes, loading/unloading and operational approvals.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877056"/>
            <a:ext cx="11091672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151376"/>
            <a:ext cx="457200" cy="457200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3986784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 &amp; licensing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26280" y="3986784"/>
            <a:ext cx="6839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permissions, licences and documentation — started at T-7 weeks to de-risk go-live.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992624"/>
            <a:ext cx="11091672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266944"/>
            <a:ext cx="457200" cy="457200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08760" y="5102352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sign-off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26280" y="5102352"/>
            <a:ext cx="6839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 &amp; Establishment, GST/e-invoicing, PF/ESIC, insurance, fire &amp; electrical, staff BGV — checklist signed before opening.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 &amp; stock replenishment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430018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9329" y="2286000"/>
            <a:ext cx="548640" cy="54864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/>
          <p:nvPr/>
        </p:nvSpPr>
        <p:spPr>
          <a:xfrm>
            <a:off x="1489329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2971800"/>
            <a:ext cx="2155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Ghaziabad Warehouse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429000"/>
            <a:ext cx="2064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stock from Doft's warehouse; insured in transit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996946" y="26974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35858" y="2011680"/>
            <a:ext cx="2430018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6547" y="2286000"/>
            <a:ext cx="548640" cy="54864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4376547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73018" y="2971800"/>
            <a:ext cx="2155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Stockroom (~90 sq ft)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8738" y="3429000"/>
            <a:ext cx="2064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buffer beside each kiosk for fast replenishment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884164" y="26974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23076" y="2011680"/>
            <a:ext cx="2430018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263765" y="2286000"/>
            <a:ext cx="548640" cy="54864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8" name="Text 16"/>
          <p:cNvSpPr/>
          <p:nvPr/>
        </p:nvSpPr>
        <p:spPr>
          <a:xfrm>
            <a:off x="7263765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60236" y="2971800"/>
            <a:ext cx="2155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 Shelf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05956" y="3429000"/>
            <a:ext cx="2064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fill to plan; reorder triggered by min levels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771382" y="26974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210294" y="2011680"/>
            <a:ext cx="2430018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150983" y="2286000"/>
            <a:ext cx="548640" cy="54864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4" name="Text 22"/>
          <p:cNvSpPr/>
          <p:nvPr/>
        </p:nvSpPr>
        <p:spPr>
          <a:xfrm>
            <a:off x="10150983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347454" y="2971800"/>
            <a:ext cx="2155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Reconcile &amp; Return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393174" y="3429000"/>
            <a:ext cx="2064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counts; unsold inventory returned with full reconciliation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4572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7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Timely replenishment protects peak-day sales — no stock-outs when footfall is highest.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operations &amp; reporting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open-to-close execution, with a standard daily report to Doft per kiosk — consolidated by city.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56717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2436876"/>
            <a:ext cx="201168" cy="20116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011680"/>
            <a:ext cx="192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90138" y="2011680"/>
            <a:ext cx="256717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91306" y="2436876"/>
            <a:ext cx="201168" cy="20116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0" name="Text 8"/>
          <p:cNvSpPr/>
          <p:nvPr/>
        </p:nvSpPr>
        <p:spPr>
          <a:xfrm>
            <a:off x="3893058" y="2011680"/>
            <a:ext cx="192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Footfall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31636" y="2011680"/>
            <a:ext cx="256717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32804" y="2436876"/>
            <a:ext cx="201168" cy="20116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3" name="Text 11"/>
          <p:cNvSpPr/>
          <p:nvPr/>
        </p:nvSpPr>
        <p:spPr>
          <a:xfrm>
            <a:off x="6734556" y="2011680"/>
            <a:ext cx="192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073134" y="2011680"/>
            <a:ext cx="256717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274302" y="2436876"/>
            <a:ext cx="201168" cy="20116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6" name="Text 14"/>
          <p:cNvSpPr/>
          <p:nvPr/>
        </p:nvSpPr>
        <p:spPr>
          <a:xfrm>
            <a:off x="9576054" y="2011680"/>
            <a:ext cx="192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Inventory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337560"/>
            <a:ext cx="256717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49808" y="3762756"/>
            <a:ext cx="201168" cy="20116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3337560"/>
            <a:ext cx="192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Replenishment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390138" y="3337560"/>
            <a:ext cx="256717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591306" y="3762756"/>
            <a:ext cx="201168" cy="20116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2" name="Text 20"/>
          <p:cNvSpPr/>
          <p:nvPr/>
        </p:nvSpPr>
        <p:spPr>
          <a:xfrm>
            <a:off x="3893058" y="3337560"/>
            <a:ext cx="192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31636" y="3337560"/>
            <a:ext cx="256717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32804" y="3762756"/>
            <a:ext cx="201168" cy="20116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5" name="Text 23"/>
          <p:cNvSpPr/>
          <p:nvPr/>
        </p:nvSpPr>
        <p:spPr>
          <a:xfrm>
            <a:off x="6734556" y="3337560"/>
            <a:ext cx="192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Feedback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073134" y="3337560"/>
            <a:ext cx="256717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274302" y="3762756"/>
            <a:ext cx="201168" cy="20116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8" name="Text 26"/>
          <p:cNvSpPr/>
          <p:nvPr/>
        </p:nvSpPr>
        <p:spPr>
          <a:xfrm>
            <a:off x="9576054" y="3337560"/>
            <a:ext cx="192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Ops Issues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489204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20182B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5029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cadence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2960" y="534924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written report   ·   </a:t>
            </a:r>
            <a:pPr indent="0" marL="0">
              <a:buNone/>
            </a:pPr>
            <a:r>
              <a:rPr lang="en-US" sz="1500" b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city review call   ·   </a:t>
            </a:r>
            <a:pPr indent="0" marL="0">
              <a:buNone/>
            </a:pPr>
            <a:r>
              <a:rPr lang="en-US" sz="1500" b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End-of-season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reconciliation &amp; review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timeline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325880" y="3108960"/>
            <a:ext cx="9537192" cy="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T-8w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0299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&amp; kick-off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325880" y="2578608"/>
            <a:ext cx="0" cy="530352"/>
          </a:xfrm>
          <a:prstGeom prst="line">
            <a:avLst/>
          </a:prstGeom>
          <a:noFill/>
          <a:ln w="12700">
            <a:solidFill>
              <a:srgbClr val="E4DBC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25296" y="3008376"/>
            <a:ext cx="201168" cy="201168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9" name="Text 7"/>
          <p:cNvSpPr/>
          <p:nvPr/>
        </p:nvSpPr>
        <p:spPr>
          <a:xfrm>
            <a:off x="1911096" y="3566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T-7w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11096" y="38587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Malls &amp; licences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88336" y="3108960"/>
            <a:ext cx="0" cy="457200"/>
          </a:xfrm>
          <a:prstGeom prst="line">
            <a:avLst/>
          </a:prstGeom>
          <a:noFill/>
          <a:ln w="12700">
            <a:solidFill>
              <a:srgbClr val="E4DBC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87752" y="3008376"/>
            <a:ext cx="201168" cy="201168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13" name="Text 11"/>
          <p:cNvSpPr/>
          <p:nvPr/>
        </p:nvSpPr>
        <p:spPr>
          <a:xfrm>
            <a:off x="3273552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T-6w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73552" y="20299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 &amp; BGV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050792" y="2578608"/>
            <a:ext cx="0" cy="530352"/>
          </a:xfrm>
          <a:prstGeom prst="line">
            <a:avLst/>
          </a:prstGeom>
          <a:noFill/>
          <a:ln w="12700">
            <a:solidFill>
              <a:srgbClr val="E4DBC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50208" y="3008376"/>
            <a:ext cx="201168" cy="201168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17" name="Text 15"/>
          <p:cNvSpPr/>
          <p:nvPr/>
        </p:nvSpPr>
        <p:spPr>
          <a:xfrm>
            <a:off x="4636008" y="3566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T-3w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636008" y="38587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Kiosk fit-out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13248" y="3108960"/>
            <a:ext cx="0" cy="457200"/>
          </a:xfrm>
          <a:prstGeom prst="line">
            <a:avLst/>
          </a:prstGeom>
          <a:noFill/>
          <a:ln w="12700">
            <a:solidFill>
              <a:srgbClr val="E4DB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12664" y="3008376"/>
            <a:ext cx="201168" cy="201168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21" name="Text 19"/>
          <p:cNvSpPr/>
          <p:nvPr/>
        </p:nvSpPr>
        <p:spPr>
          <a:xfrm>
            <a:off x="5998464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T-2w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98464" y="20299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Doft training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775704" y="2578608"/>
            <a:ext cx="0" cy="530352"/>
          </a:xfrm>
          <a:prstGeom prst="line">
            <a:avLst/>
          </a:prstGeom>
          <a:noFill/>
          <a:ln w="12700">
            <a:solidFill>
              <a:srgbClr val="E4DBC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75120" y="3008376"/>
            <a:ext cx="201168" cy="201168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25" name="Text 23"/>
          <p:cNvSpPr/>
          <p:nvPr/>
        </p:nvSpPr>
        <p:spPr>
          <a:xfrm>
            <a:off x="7360920" y="3566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T-1w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60920" y="38587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&amp; first fill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3108960"/>
            <a:ext cx="0" cy="457200"/>
          </a:xfrm>
          <a:prstGeom prst="line">
            <a:avLst/>
          </a:prstGeom>
          <a:noFill/>
          <a:ln w="12700">
            <a:solidFill>
              <a:srgbClr val="E4DBC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37576" y="3008376"/>
            <a:ext cx="201168" cy="201168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29" name="Text 27"/>
          <p:cNvSpPr/>
          <p:nvPr/>
        </p:nvSpPr>
        <p:spPr>
          <a:xfrm>
            <a:off x="8723376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723376" y="20299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 — ops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500616" y="2578608"/>
            <a:ext cx="0" cy="530352"/>
          </a:xfrm>
          <a:prstGeom prst="line">
            <a:avLst/>
          </a:prstGeom>
          <a:noFill/>
          <a:ln w="12700">
            <a:solidFill>
              <a:srgbClr val="E4DBC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00032" y="3008376"/>
            <a:ext cx="201168" cy="201168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5832" y="3566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T+6w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085832" y="38587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Dismantle &amp; review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0863072" y="3108960"/>
            <a:ext cx="0" cy="457200"/>
          </a:xfrm>
          <a:prstGeom prst="line">
            <a:avLst/>
          </a:prstGeom>
          <a:noFill/>
          <a:ln w="12700">
            <a:solidFill>
              <a:srgbClr val="E4DBC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762488" y="3008376"/>
            <a:ext cx="201168" cy="201168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shown relative to go-live (T). Operations run 3–5 weeks per the brief. Full per-region Gantt provided in the operations workbook.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0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illustrative first-season footprint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starting scenario for a premium brand — fully scalable. Final cities &amp; kiosk counts are yours to set.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453384" cy="1737360"/>
          </a:xfrm>
          <a:prstGeom prst="roundRect">
            <a:avLst>
              <a:gd name="adj" fmla="val 4211"/>
            </a:avLst>
          </a:prstGeom>
          <a:solidFill>
            <a:srgbClr val="37294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06040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Delhi-NCR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324612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kiosks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67784" y="2286000"/>
            <a:ext cx="3453384" cy="1737360"/>
          </a:xfrm>
          <a:prstGeom prst="roundRect">
            <a:avLst>
              <a:gd name="adj" fmla="val 4211"/>
            </a:avLst>
          </a:prstGeom>
          <a:solidFill>
            <a:srgbClr val="37294D"/>
          </a:solidFill>
          <a:ln/>
        </p:spPr>
      </p:sp>
      <p:sp>
        <p:nvSpPr>
          <p:cNvPr id="9" name="Text 7"/>
          <p:cNvSpPr/>
          <p:nvPr/>
        </p:nvSpPr>
        <p:spPr>
          <a:xfrm>
            <a:off x="4642104" y="2606040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Mumbai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642104" y="324612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kiosks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86928" y="2286000"/>
            <a:ext cx="3453384" cy="1737360"/>
          </a:xfrm>
          <a:prstGeom prst="roundRect">
            <a:avLst>
              <a:gd name="adj" fmla="val 4211"/>
            </a:avLst>
          </a:prstGeom>
          <a:solidFill>
            <a:srgbClr val="37294D"/>
          </a:solidFill>
          <a:ln/>
        </p:spPr>
      </p:sp>
      <p:sp>
        <p:nvSpPr>
          <p:cNvPr id="12" name="Text 10"/>
          <p:cNvSpPr/>
          <p:nvPr/>
        </p:nvSpPr>
        <p:spPr>
          <a:xfrm>
            <a:off x="8461248" y="2606040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Bengaluru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461248" y="324612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kiosks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0" cy="137160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343400"/>
            <a:ext cx="23157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731520" y="5212080"/>
            <a:ext cx="231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kiosks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412998" y="4343400"/>
            <a:ext cx="0" cy="137160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95878" y="4343400"/>
            <a:ext cx="23157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95878" y="5212080"/>
            <a:ext cx="231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staff deployed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77356" y="4343400"/>
            <a:ext cx="0" cy="137160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60236" y="4343400"/>
            <a:ext cx="23157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3–5 wks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460236" y="5212080"/>
            <a:ext cx="231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window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141714" y="4343400"/>
            <a:ext cx="0" cy="137160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24594" y="4343400"/>
            <a:ext cx="23157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2028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9324594" y="5212080"/>
            <a:ext cx="231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through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only — the brief specifies 2–4 pop-ups per region across multiple cities. Change two inputs in the workbook to re-scope instantly.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transparent, built-up cost model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Priced bottom-up per kiosk, then rolled up. Every line is an editable input in the workbook.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74520"/>
          <a:ext cx="51206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126480" y="1920240"/>
            <a:ext cx="5513832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309360" y="1920240"/>
            <a:ext cx="3685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cost / kiosk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9902952" y="19202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32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11.3 L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26480" y="2542032"/>
            <a:ext cx="5513832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9360" y="2542032"/>
            <a:ext cx="3685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Management margin (15%)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902952" y="25420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32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1.7 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26480" y="3163824"/>
            <a:ext cx="5513832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09360" y="3163824"/>
            <a:ext cx="3685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value / kiosk (pre-GST)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902952" y="316382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12.9 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26480" y="3785616"/>
            <a:ext cx="5513832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09360" y="3785616"/>
            <a:ext cx="3685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9 kiosks (illustrative)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9902952" y="378561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1.16 Cr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126480" y="4407408"/>
            <a:ext cx="5513832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09360" y="4407408"/>
            <a:ext cx="3685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GST (18%)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9902952" y="440740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32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0.21 Cr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126480" y="5029200"/>
            <a:ext cx="5513832" cy="566928"/>
          </a:xfrm>
          <a:prstGeom prst="roundRect">
            <a:avLst>
              <a:gd name="adj" fmla="val 8065"/>
            </a:avLst>
          </a:prstGeom>
          <a:solidFill>
            <a:srgbClr val="20182B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09360" y="5029200"/>
            <a:ext cx="3685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programme (incl. GST)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9902952" y="502920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1.37 Cr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48640" y="5989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Mall licence / space fee is the biggest swing item and is often reimbursed by the brand. Figures illustrative at placeholder rates — to be confirmed against quotes.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protect the season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206240" cy="457200"/>
          </a:xfrm>
          <a:prstGeom prst="rect">
            <a:avLst/>
          </a:prstGeom>
          <a:solidFill>
            <a:srgbClr val="20182B"/>
          </a:solidFill>
          <a:ln/>
        </p:spPr>
      </p:sp>
      <p:sp>
        <p:nvSpPr>
          <p:cNvPr id="5" name="Shape 3"/>
          <p:cNvSpPr/>
          <p:nvPr/>
        </p:nvSpPr>
        <p:spPr>
          <a:xfrm>
            <a:off x="4754880" y="1691640"/>
            <a:ext cx="6885432" cy="457200"/>
          </a:xfrm>
          <a:prstGeom prst="rect">
            <a:avLst/>
          </a:prstGeom>
          <a:solidFill>
            <a:srgbClr val="37294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916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983480" y="1691640"/>
            <a:ext cx="6656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11091672" cy="749808"/>
          </a:xfrm>
          <a:prstGeom prst="rect">
            <a:avLst/>
          </a:prstGeom>
          <a:solidFill>
            <a:srgbClr val="F0E9DE"/>
          </a:solidFill>
          <a:ln w="6350">
            <a:solidFill>
              <a:srgbClr val="E4DB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14884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attrition after training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83480" y="2148840"/>
            <a:ext cx="64282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trained bench; same-day no-cost replacement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1109167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4DB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898648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Mall permission delays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83480" y="2898648"/>
            <a:ext cx="64282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kicked off at T-7w; parallel mall shortlist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48456"/>
            <a:ext cx="11091672" cy="749808"/>
          </a:xfrm>
          <a:prstGeom prst="rect">
            <a:avLst/>
          </a:prstGeom>
          <a:solidFill>
            <a:srgbClr val="F0E9DE"/>
          </a:solidFill>
          <a:ln w="6350">
            <a:solidFill>
              <a:srgbClr val="E4DBC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648456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Stock-out on peak days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3648456"/>
            <a:ext cx="64282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 levels + daily replenishment from stockroom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398264"/>
            <a:ext cx="1109167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4DB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9826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 / EDC downtime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83480" y="4398264"/>
            <a:ext cx="64282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EDC + connectivity failover; trained cashier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148072"/>
            <a:ext cx="11091672" cy="749808"/>
          </a:xfrm>
          <a:prstGeom prst="rect">
            <a:avLst/>
          </a:prstGeom>
          <a:solidFill>
            <a:srgbClr val="F0E9DE"/>
          </a:solidFill>
          <a:ln w="6350">
            <a:solidFill>
              <a:srgbClr val="E4DBC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148072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 fabrication delay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83480" y="5148072"/>
            <a:ext cx="64282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SLA + 3-day buffer before go-live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TOOLKIT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operations workbook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 ships with a live Excel workbook — the operating system for the engagement. Edit the assumptions; everything recalculates.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01168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201168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90138" y="201168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73018" y="201168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67378" y="201168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1636" y="201168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4516" y="201168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08876" y="201168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Staffing Plan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73134" y="201168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56014" y="201168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850374" y="201168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Manpower Cost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10896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1089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310896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Summary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390138" y="310896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73018" y="31089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167378" y="310896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Recruitment Tracker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31636" y="310896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14516" y="31089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08876" y="310896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73134" y="310896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56014" y="31089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850374" y="310896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420624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2062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325880" y="420624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&amp; Replenish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390138" y="420624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73018" y="42062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167378" y="420624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 &amp; Conversion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31636" y="420624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14516" y="42062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08876" y="420624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Feedback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073134" y="420624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56014" y="42062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9850374" y="420624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Checklist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48640" y="530352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1520" y="530352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1325880" y="530352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Register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0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840480"/>
            <a:ext cx="4114800" cy="4114800"/>
          </a:xfrm>
          <a:prstGeom prst="ellipse">
            <a:avLst/>
          </a:prstGeom>
          <a:solidFill>
            <a:srgbClr val="37294D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868680"/>
            <a:ext cx="164592" cy="164592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4" name="Shape 2"/>
          <p:cNvSpPr/>
          <p:nvPr/>
        </p:nvSpPr>
        <p:spPr>
          <a:xfrm>
            <a:off x="1170432" y="868680"/>
            <a:ext cx="164592" cy="164592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1426464" y="868680"/>
            <a:ext cx="164592" cy="164592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37160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make Doft's Diwali unmissable.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8803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premium retail partner with proven mall, VM and multi-city manpower experience — committed to Doft for Diwali 2026, 2027 and 2028.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3977640"/>
            <a:ext cx="1033272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1605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PROMARCOM INC.  ·  Integrated Marketing Innovations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617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Prashant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4937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+91 99538 88889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523036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prashant@eventsactive.com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55046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B-125 LFG, CR Park, New Delhi 110019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4617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0" y="4937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www.eventsactive.com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523036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 ·  Padma  +1 (408) 679-7148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55046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3721 Jasmine Circle, San Jose, CA 95135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6309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E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as a planning response to the Doft Candles Request for Contractor. Figures illustrative at placeholder rates.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ProMarcom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ProMarcom for Doft Candles — Diwali Pop-Up Retail Operations</dc:title>
  <dc:subject>PptxGenJS Presentation</dc:subject>
  <dc:creator>ProMarcom Inc.</dc:creator>
  <cp:lastModifiedBy>ProMarcom Inc.</cp:lastModifiedBy>
  <cp:revision>1</cp:revision>
  <dcterms:created xsi:type="dcterms:W3CDTF">2026-07-30T01:15:37Z</dcterms:created>
  <dcterms:modified xsi:type="dcterms:W3CDTF">2026-07-30T01:15:37Z</dcterms:modified>
</cp:coreProperties>
</file>