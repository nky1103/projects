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Per-kiosk cost heads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9E5A45"/>
              </a:solidFill>
              <a:effectLst/>
            </c:spPr>
          </c:dPt>
          <c:dPt>
            <c:idx val="1"/>
            <c:bubble3D val="0"/>
            <c:spPr>
              <a:solidFill>
                <a:srgbClr val="C39A98"/>
              </a:solidFill>
              <a:effectLst/>
            </c:spPr>
          </c:dPt>
          <c:dPt>
            <c:idx val="2"/>
            <c:bubble3D val="0"/>
            <c:spPr>
              <a:solidFill>
                <a:srgbClr val="4A343A"/>
              </a:solidFill>
              <a:effectLst/>
            </c:spPr>
          </c:dPt>
          <c:dPt>
            <c:idx val="3"/>
            <c:bubble3D val="0"/>
            <c:spPr>
              <a:solidFill>
                <a:srgbClr val="B8924A"/>
              </a:solidFill>
              <a:effectLst/>
            </c:spPr>
          </c:dPt>
          <c:dPt>
            <c:idx val="4"/>
            <c:bubble3D val="0"/>
            <c:spPr>
              <a:solidFill>
                <a:srgbClr val="C9B9A6"/>
              </a:solidFill>
              <a:effectLst/>
            </c:spPr>
          </c:dPt>
          <c:dPt>
            <c:idx val="5"/>
            <c:bubble3D val="0"/>
            <c:spPr>
              <a:solidFill>
                <a:srgbClr val="E0D4C1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Manpower</c:v>
                </c:pt>
                <c:pt idx="1">
                  <c:v>Mall licence*</c:v>
                </c:pt>
                <c:pt idx="2">
                  <c:v>Kiosk fabrication</c:v>
                </c:pt>
                <c:pt idx="3">
                  <c:v>Logistics &amp; stockroom</c:v>
                </c:pt>
                <c:pt idx="4">
                  <c:v>Welfare &amp; incentives</c:v>
                </c:pt>
                <c:pt idx="5">
                  <c:v>Other setup &amp; compliance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393</c:v>
                </c:pt>
                <c:pt idx="1">
                  <c:v>250</c:v>
                </c:pt>
                <c:pt idx="2">
                  <c:v>225</c:v>
                </c:pt>
                <c:pt idx="3">
                  <c:v>100</c:v>
                </c:pt>
                <c:pt idx="4">
                  <c:v>55</c:v>
                </c:pt>
                <c:pt idx="5">
                  <c:v>102</c:v>
                </c:pt>
              </c:numCache>
            </c:numRef>
          </c:val>
        </c:ser>
        <c:firstSliceAng val="0"/>
        <c:holeSize val="56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35302B"/>
              </a:solidFill>
              <a:latin typeface="Trebuchet MS"/>
              <a:cs typeface="Trebuchet M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final/doft_hero_lef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955280" y="0"/>
            <a:ext cx="423367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955280" y="0"/>
            <a:ext cx="0" cy="685800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66928" y="548640"/>
            <a:ext cx="2286000" cy="868680"/>
          </a:xfrm>
          <a:prstGeom prst="roundRect">
            <a:avLst>
              <a:gd name="adj" fmla="val 6316"/>
            </a:avLst>
          </a:prstGeom>
          <a:solidFill>
            <a:srgbClr val="FCFAF5"/>
          </a:solidFill>
          <a:ln w="12700">
            <a:solidFill>
              <a:srgbClr val="C39A98"/>
            </a:solidFill>
            <a:prstDash val="dash"/>
          </a:ln>
        </p:spPr>
      </p:sp>
      <p:sp>
        <p:nvSpPr>
          <p:cNvPr id="5" name="Text 2"/>
          <p:cNvSpPr/>
          <p:nvPr/>
        </p:nvSpPr>
        <p:spPr>
          <a:xfrm>
            <a:off x="566928" y="603504"/>
            <a:ext cx="22860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spc="300" kern="0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 O  F  T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66928" y="112471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spc="100" kern="0" dirty="0">
                <a:solidFill>
                  <a:srgbClr val="8C7F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client logo — placeholder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66928" y="1965960"/>
            <a:ext cx="7114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92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CONTRACTOR EXECUTION &amp; PARTNERSHIP PROPOSAL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" y="2331720"/>
            <a:ext cx="7114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Diwali Pop-Up</a:t>
            </a:r>
            <a:endParaRPr lang="en-US" sz="5000" dirty="0"/>
          </a:p>
        </p:txBody>
      </p:sp>
      <p:sp>
        <p:nvSpPr>
          <p:cNvPr id="9" name="Text 6"/>
          <p:cNvSpPr/>
          <p:nvPr/>
        </p:nvSpPr>
        <p:spPr>
          <a:xfrm>
            <a:off x="566928" y="3200400"/>
            <a:ext cx="7114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Retail Operations</a:t>
            </a:r>
            <a:endParaRPr lang="en-US" sz="5000" dirty="0"/>
          </a:p>
        </p:txBody>
      </p:sp>
      <p:sp>
        <p:nvSpPr>
          <p:cNvPr id="10" name="Shape 7"/>
          <p:cNvSpPr/>
          <p:nvPr/>
        </p:nvSpPr>
        <p:spPr>
          <a:xfrm>
            <a:off x="585216" y="4206240"/>
            <a:ext cx="3291840" cy="0"/>
          </a:xfrm>
          <a:prstGeom prst="line">
            <a:avLst/>
          </a:prstGeom>
          <a:noFill/>
          <a:ln w="19050">
            <a:solidFill>
              <a:srgbClr val="C39A9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4352544"/>
            <a:ext cx="7114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7F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  </a:t>
            </a:r>
            <a:pPr indent="0" marL="0">
              <a:buNone/>
            </a:pPr>
            <a:r>
              <a:rPr lang="en-US" sz="1300" b="1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Doft Candles</a:t>
            </a:r>
            <a:pPr indent="0" marL="0">
              <a:buNone/>
            </a:pPr>
            <a:r>
              <a:rPr lang="en-US" sz="1300" dirty="0">
                <a:solidFill>
                  <a:srgbClr val="8C7F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   ·     Diwali Seasons 2026 · 2027 · 2028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66928" y="5029200"/>
            <a:ext cx="7114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39A9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“Experiencing the world through scent.”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566928" y="5742432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7F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Prepared by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618488" y="5705856"/>
            <a:ext cx="15544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50800" dist="12700" dir="5400000">
              <a:srgbClr val="B8A894">
                <a:alpha val="35000"/>
              </a:srgbClr>
            </a:outerShdw>
          </a:effectLst>
        </p:spPr>
      </p:sp>
      <p:pic>
        <p:nvPicPr>
          <p:cNvPr id="15" name="Image 1" descr="assets/final/promarcom_logo_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5784302"/>
            <a:ext cx="1316736" cy="3003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Understanding your brief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0140696" y="420624"/>
            <a:ext cx="1481328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50800" dist="12700" dir="5400000">
              <a:srgbClr val="B8A894">
                <a:alpha val="35000"/>
              </a:srgbClr>
            </a:outerShdw>
          </a:effectLst>
        </p:spPr>
      </p:sp>
      <p:pic>
        <p:nvPicPr>
          <p:cNvPr id="5" name="Image 0" descr="assets/final/promarcom_logo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9568" y="507412"/>
            <a:ext cx="1243584" cy="283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1389888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7F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Premium seasonal pop-up kiosks in leading malls — staffed and run end-to-end, as a long-term partner for Diwali 2026–28.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66928" y="1965960"/>
            <a:ext cx="3471672" cy="1371600"/>
          </a:xfrm>
          <a:prstGeom prst="roundRect">
            <a:avLst>
              <a:gd name="adj" fmla="val 4667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22960" y="2295144"/>
            <a:ext cx="91440" cy="9144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9" name="Text 6"/>
          <p:cNvSpPr/>
          <p:nvPr/>
        </p:nvSpPr>
        <p:spPr>
          <a:xfrm>
            <a:off x="978408" y="2148840"/>
            <a:ext cx="292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3–5 wks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22960" y="2679192"/>
            <a:ext cx="301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Operating window before Diwali, each season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58640" y="1965960"/>
            <a:ext cx="3471672" cy="1371600"/>
          </a:xfrm>
          <a:prstGeom prst="roundRect">
            <a:avLst>
              <a:gd name="adj" fmla="val 4667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614672" y="2295144"/>
            <a:ext cx="91440" cy="9144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13" name="Text 10"/>
          <p:cNvSpPr/>
          <p:nvPr/>
        </p:nvSpPr>
        <p:spPr>
          <a:xfrm>
            <a:off x="4770120" y="2148840"/>
            <a:ext cx="292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~300 sq ft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4614672" y="2679192"/>
            <a:ext cx="301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Kiosk footprint, plus a ~90 sq ft stockroom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150352" y="1965960"/>
            <a:ext cx="3471672" cy="1371600"/>
          </a:xfrm>
          <a:prstGeom prst="roundRect">
            <a:avLst>
              <a:gd name="adj" fmla="val 4667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406384" y="2295144"/>
            <a:ext cx="91440" cy="9144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17" name="Text 14"/>
          <p:cNvSpPr/>
          <p:nvPr/>
        </p:nvSpPr>
        <p:spPr>
          <a:xfrm>
            <a:off x="8561832" y="2148840"/>
            <a:ext cx="292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2–4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406384" y="2679192"/>
            <a:ext cx="301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Pop-ups per region, across multiple cities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66928" y="3630168"/>
            <a:ext cx="3471672" cy="1371600"/>
          </a:xfrm>
          <a:prstGeom prst="roundRect">
            <a:avLst>
              <a:gd name="adj" fmla="val 4667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22960" y="3959352"/>
            <a:ext cx="91440" cy="9144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21" name="Text 18"/>
          <p:cNvSpPr/>
          <p:nvPr/>
        </p:nvSpPr>
        <p:spPr>
          <a:xfrm>
            <a:off x="978408" y="3813048"/>
            <a:ext cx="292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/ kiosk</a:t>
            </a:r>
            <a:endParaRPr lang="en-US" sz="2400" dirty="0"/>
          </a:p>
        </p:txBody>
      </p:sp>
      <p:sp>
        <p:nvSpPr>
          <p:cNvPr id="22" name="Text 19"/>
          <p:cNvSpPr/>
          <p:nvPr/>
        </p:nvSpPr>
        <p:spPr>
          <a:xfrm>
            <a:off x="822960" y="4343400"/>
            <a:ext cx="301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 staffing team at every pop-up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358640" y="3630168"/>
            <a:ext cx="3471672" cy="1371600"/>
          </a:xfrm>
          <a:prstGeom prst="roundRect">
            <a:avLst>
              <a:gd name="adj" fmla="val 4667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614672" y="3959352"/>
            <a:ext cx="91440" cy="9144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25" name="Text 22"/>
          <p:cNvSpPr/>
          <p:nvPr/>
        </p:nvSpPr>
        <p:spPr>
          <a:xfrm>
            <a:off x="4770120" y="3813048"/>
            <a:ext cx="292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1-day</a:t>
            </a:r>
            <a:endParaRPr lang="en-US" sz="2400" dirty="0"/>
          </a:p>
        </p:txBody>
      </p:sp>
      <p:sp>
        <p:nvSpPr>
          <p:cNvPr id="26" name="Text 23"/>
          <p:cNvSpPr/>
          <p:nvPr/>
        </p:nvSpPr>
        <p:spPr>
          <a:xfrm>
            <a:off x="4614672" y="4343400"/>
            <a:ext cx="301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Doft product &amp; sales training, 100% attendance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8150352" y="3630168"/>
            <a:ext cx="3471672" cy="1371600"/>
          </a:xfrm>
          <a:prstGeom prst="roundRect">
            <a:avLst>
              <a:gd name="adj" fmla="val 4667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8406384" y="3959352"/>
            <a:ext cx="91440" cy="9144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29" name="Text 26"/>
          <p:cNvSpPr/>
          <p:nvPr/>
        </p:nvSpPr>
        <p:spPr>
          <a:xfrm>
            <a:off x="8561832" y="3813048"/>
            <a:ext cx="292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Doft supplies</a:t>
            </a:r>
            <a:endParaRPr lang="en-US" sz="2400" dirty="0"/>
          </a:p>
        </p:txBody>
      </p:sp>
      <p:sp>
        <p:nvSpPr>
          <p:cNvPr id="30" name="Text 27"/>
          <p:cNvSpPr/>
          <p:nvPr/>
        </p:nvSpPr>
        <p:spPr>
          <a:xfrm>
            <a:off x="8406384" y="4343400"/>
            <a:ext cx="301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Stock, furniture, POS/EDC, returnable uniforms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A3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463040"/>
            <a:ext cx="4206240" cy="4206240"/>
          </a:xfrm>
          <a:prstGeom prst="ellipse">
            <a:avLst/>
          </a:prstGeom>
          <a:solidFill>
            <a:srgbClr val="3A283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1206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B8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PROMARCOM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8046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partner built for premium mall retail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66928" y="148132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B4A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ProMarcom delivers below-the-line, retail and experiential marketing end to end — concept, design, fabrication, manpower, operations and reporting.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2558034" cy="3200400"/>
          </a:xfrm>
          <a:prstGeom prst="roundRect">
            <a:avLst>
              <a:gd name="adj" fmla="val 2502"/>
            </a:avLst>
          </a:prstGeom>
          <a:solidFill>
            <a:srgbClr val="3A2830"/>
          </a:solidFill>
          <a:ln w="12700">
            <a:solidFill>
              <a:srgbClr val="5C40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2606040"/>
            <a:ext cx="502920" cy="502920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3337560"/>
            <a:ext cx="20459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Mall &amp; Retail Promotions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4114800"/>
            <a:ext cx="204597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B4A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Multi-month mall activations and in-shop demonstrations for global brands.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99282" y="2286000"/>
            <a:ext cx="2558034" cy="3200400"/>
          </a:xfrm>
          <a:prstGeom prst="roundRect">
            <a:avLst>
              <a:gd name="adj" fmla="val 2502"/>
            </a:avLst>
          </a:prstGeom>
          <a:solidFill>
            <a:srgbClr val="3A2830"/>
          </a:solidFill>
          <a:ln w="12700">
            <a:solidFill>
              <a:srgbClr val="5C404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3602" y="2606040"/>
            <a:ext cx="502920" cy="502920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13" name="Text 11"/>
          <p:cNvSpPr/>
          <p:nvPr/>
        </p:nvSpPr>
        <p:spPr>
          <a:xfrm>
            <a:off x="3673602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655314" y="3337560"/>
            <a:ext cx="20459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Premium Retail VM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55314" y="4114800"/>
            <a:ext cx="204597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B4A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Show-windows &amp; VM for Burberry, Louis Vuitton, LG, Samsung across 90+ cities.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31636" y="2286000"/>
            <a:ext cx="2558034" cy="3200400"/>
          </a:xfrm>
          <a:prstGeom prst="roundRect">
            <a:avLst>
              <a:gd name="adj" fmla="val 2502"/>
            </a:avLst>
          </a:prstGeom>
          <a:solidFill>
            <a:srgbClr val="3A2830"/>
          </a:solidFill>
          <a:ln w="12700">
            <a:solidFill>
              <a:srgbClr val="5C404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05956" y="2606040"/>
            <a:ext cx="502920" cy="502920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18" name="Text 16"/>
          <p:cNvSpPr/>
          <p:nvPr/>
        </p:nvSpPr>
        <p:spPr>
          <a:xfrm>
            <a:off x="6505956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487668" y="3337560"/>
            <a:ext cx="20459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Manpower at Scale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87668" y="4114800"/>
            <a:ext cx="204597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B4A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Recruit, train, deploy and manage large field teams with tracking and reporting.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063990" y="2286000"/>
            <a:ext cx="2558034" cy="3200400"/>
          </a:xfrm>
          <a:prstGeom prst="roundRect">
            <a:avLst>
              <a:gd name="adj" fmla="val 2502"/>
            </a:avLst>
          </a:prstGeom>
          <a:solidFill>
            <a:srgbClr val="3A2830"/>
          </a:solidFill>
          <a:ln w="12700">
            <a:solidFill>
              <a:srgbClr val="5C404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338310" y="2606040"/>
            <a:ext cx="502920" cy="502920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23" name="Text 21"/>
          <p:cNvSpPr/>
          <p:nvPr/>
        </p:nvSpPr>
        <p:spPr>
          <a:xfrm>
            <a:off x="933831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320022" y="3337560"/>
            <a:ext cx="20459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Exhibitions &amp; Events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320022" y="4114800"/>
            <a:ext cx="204597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B4A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1,000–24,000 sqm exhibitions; events for LG, Samsung, HP, ICC World Cup.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C9B4A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B4A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CREDENTIALS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proven track record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0140696" y="420624"/>
            <a:ext cx="1481328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50800" dist="12700" dir="5400000">
              <a:srgbClr val="B8A894">
                <a:alpha val="35000"/>
              </a:srgbClr>
            </a:outerShdw>
          </a:effectLst>
        </p:spPr>
      </p:sp>
      <p:pic>
        <p:nvPicPr>
          <p:cNvPr id="5" name="Image 0" descr="assets/final/promarcom_logo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9568" y="507412"/>
            <a:ext cx="1243584" cy="283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508760"/>
            <a:ext cx="2558034" cy="1691640"/>
          </a:xfrm>
          <a:prstGeom prst="roundRect">
            <a:avLst>
              <a:gd name="adj" fmla="val 3784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68096" y="1728216"/>
            <a:ext cx="21922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90+</a:t>
            </a:r>
            <a:endParaRPr lang="en-US" sz="330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21922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Cities covered for retail VM &amp; activations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399282" y="1508760"/>
            <a:ext cx="2558034" cy="1691640"/>
          </a:xfrm>
          <a:prstGeom prst="roundRect">
            <a:avLst>
              <a:gd name="adj" fmla="val 3784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600450" y="1728216"/>
            <a:ext cx="21922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3,000</a:t>
            </a:r>
            <a:endParaRPr lang="en-US" sz="3300" dirty="0"/>
          </a:p>
        </p:txBody>
      </p:sp>
      <p:sp>
        <p:nvSpPr>
          <p:cNvPr id="11" name="Text 8"/>
          <p:cNvSpPr/>
          <p:nvPr/>
        </p:nvSpPr>
        <p:spPr>
          <a:xfrm>
            <a:off x="3600450" y="2423160"/>
            <a:ext cx="21922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Man-days on one multi-city retail rollout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231636" y="1508760"/>
            <a:ext cx="2558034" cy="1691640"/>
          </a:xfrm>
          <a:prstGeom prst="roundRect">
            <a:avLst>
              <a:gd name="adj" fmla="val 3784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432804" y="1728216"/>
            <a:ext cx="21922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24,000</a:t>
            </a:r>
            <a:endParaRPr lang="en-US" sz="3300" dirty="0"/>
          </a:p>
        </p:txBody>
      </p:sp>
      <p:sp>
        <p:nvSpPr>
          <p:cNvPr id="14" name="Text 11"/>
          <p:cNvSpPr/>
          <p:nvPr/>
        </p:nvSpPr>
        <p:spPr>
          <a:xfrm>
            <a:off x="6432804" y="2423160"/>
            <a:ext cx="21922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Sqm of exhibition floor managed (max)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9063990" y="1508760"/>
            <a:ext cx="2558034" cy="1691640"/>
          </a:xfrm>
          <a:prstGeom prst="roundRect">
            <a:avLst>
              <a:gd name="adj" fmla="val 3784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9265158" y="1728216"/>
            <a:ext cx="21922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6+ yrs</a:t>
            </a:r>
            <a:endParaRPr lang="en-US" sz="3300" dirty="0"/>
          </a:p>
        </p:txBody>
      </p:sp>
      <p:sp>
        <p:nvSpPr>
          <p:cNvPr id="17" name="Text 14"/>
          <p:cNvSpPr/>
          <p:nvPr/>
        </p:nvSpPr>
        <p:spPr>
          <a:xfrm>
            <a:off x="9265158" y="2423160"/>
            <a:ext cx="21922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 LG's BTL / retail / digital partner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566928" y="35204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C7F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Trusted by leading brands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931920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12648" y="3931920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LG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2439924" y="3931920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485644" y="3931920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Samsung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312920" y="3931920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358640" y="3931920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Hewlett-Packard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185916" y="3931920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231636" y="3931920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Bajaj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8058912" y="3931920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8104632" y="3931920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Castrol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9931908" y="3931920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977628" y="3931920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Pepsi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4681728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12648" y="4681728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ITC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2439924" y="4681728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485644" y="4681728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Burberry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4312920" y="4681728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358640" y="4681728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Louis Vuitton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6185916" y="4681728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231636" y="4681728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Panasonic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8058912" y="4681728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104632" y="4681728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Pearson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9931908" y="4681728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9977628" y="4681728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ICC World Cup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566928" y="58064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7F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Illustrative selection from ProMarcom credentials.</a:t>
            </a:r>
            <a:endParaRPr lang="en-US" sz="850" dirty="0"/>
          </a:p>
        </p:txBody>
      </p:sp>
      <p:sp>
        <p:nvSpPr>
          <p:cNvPr id="44" name="Text 41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45" name="Text 42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RELEVANT EXPERIENCE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have run exactly this before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0140696" y="420624"/>
            <a:ext cx="1481328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50800" dist="12700" dir="5400000">
              <a:srgbClr val="B8A894">
                <a:alpha val="35000"/>
              </a:srgbClr>
            </a:outerShdw>
          </a:effectLst>
        </p:spPr>
      </p:sp>
      <p:pic>
        <p:nvPicPr>
          <p:cNvPr id="5" name="Image 0" descr="assets/final/promarcom_logo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9568" y="507412"/>
            <a:ext cx="1243584" cy="283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536192"/>
            <a:ext cx="3471672" cy="4114800"/>
          </a:xfrm>
          <a:prstGeom prst="roundRect">
            <a:avLst>
              <a:gd name="adj" fmla="val 1844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pic>
        <p:nvPicPr>
          <p:cNvPr id="7" name="Image 1" descr="assets/final/hp_mall_prom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6656" y="1645920"/>
            <a:ext cx="3252216" cy="18288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76656" y="1645920"/>
            <a:ext cx="3252216" cy="1828800"/>
          </a:xfrm>
          <a:prstGeom prst="rect">
            <a:avLst/>
          </a:prstGeom>
          <a:ln w="19050">
            <a:solidFill>
              <a:srgbClr val="FFFFFF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68096" y="3566160"/>
            <a:ext cx="3069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HP — Mall Promotions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768096" y="3986784"/>
            <a:ext cx="306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E5A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Mumbai &amp; Bengaluru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68096" y="4297680"/>
            <a:ext cx="30693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3-month mall promotion: fabrication, manpower, props, merchandising, logistics &amp; reporting.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358640" y="1536192"/>
            <a:ext cx="3471672" cy="4114800"/>
          </a:xfrm>
          <a:prstGeom prst="roundRect">
            <a:avLst>
              <a:gd name="adj" fmla="val 1844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pic>
        <p:nvPicPr>
          <p:cNvPr id="13" name="Image 2" descr="assets/final/burberry_window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468368" y="1645920"/>
            <a:ext cx="3252216" cy="182880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4468368" y="1645920"/>
            <a:ext cx="3252216" cy="1828800"/>
          </a:xfrm>
          <a:prstGeom prst="rect">
            <a:avLst/>
          </a:prstGeom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4559808" y="3566160"/>
            <a:ext cx="3069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Burberry &amp; Louis Vuitton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4559808" y="3986784"/>
            <a:ext cx="306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E5A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Premium Retail VM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4559808" y="4297680"/>
            <a:ext cx="30693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Luxury show-windows, in-shop props &amp; merchandise — the premium standard Doft demands.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8150352" y="1536192"/>
            <a:ext cx="3471672" cy="4114800"/>
          </a:xfrm>
          <a:prstGeom prst="roundRect">
            <a:avLst>
              <a:gd name="adj" fmla="val 1844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pic>
        <p:nvPicPr>
          <p:cNvPr id="19" name="Image 3" descr="assets/final/hp_veg_cart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260080" y="1645920"/>
            <a:ext cx="3252216" cy="182880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8260080" y="1645920"/>
            <a:ext cx="3252216" cy="1828800"/>
          </a:xfrm>
          <a:prstGeom prst="rect">
            <a:avLst/>
          </a:prstGeom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8351520" y="3566160"/>
            <a:ext cx="3069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LG Cookie Pep Carnival</a:t>
            </a:r>
            <a:endParaRPr lang="en-US" sz="1500" dirty="0"/>
          </a:p>
        </p:txBody>
      </p:sp>
      <p:sp>
        <p:nvSpPr>
          <p:cNvPr id="22" name="Text 16"/>
          <p:cNvSpPr/>
          <p:nvPr/>
        </p:nvSpPr>
        <p:spPr>
          <a:xfrm>
            <a:off x="8351520" y="3986784"/>
            <a:ext cx="306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E5A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70+ cities · 3,000 man-days</a:t>
            </a:r>
            <a:endParaRPr lang="en-US" sz="1000" dirty="0"/>
          </a:p>
        </p:txBody>
      </p:sp>
      <p:sp>
        <p:nvSpPr>
          <p:cNvPr id="23" name="Text 17"/>
          <p:cNvSpPr/>
          <p:nvPr/>
        </p:nvSpPr>
        <p:spPr>
          <a:xfrm>
            <a:off x="8351520" y="4297680"/>
            <a:ext cx="30693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Shop-to-shop retail activation across India — multi-city manpower at scale.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25" name="Text 19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 APPROACH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accountable partner, end to end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0140696" y="420624"/>
            <a:ext cx="1481328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50800" dist="12700" dir="5400000">
              <a:srgbClr val="B8A894">
                <a:alpha val="35000"/>
              </a:srgbClr>
            </a:outerShdw>
          </a:effectLst>
        </p:spPr>
      </p:sp>
      <p:pic>
        <p:nvPicPr>
          <p:cNvPr id="5" name="Image 0" descr="assets/final/promarcom_logo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9568" y="507412"/>
            <a:ext cx="1243584" cy="283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49808" y="19293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49808" y="225856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Kiosk Build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49808" y="262432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On-site fabrication &amp; install to Doft design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355848" y="178308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3538728" y="19293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3538728" y="225856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Mall &amp; Legal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3538728" y="262432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Liaison, licences, permits, approvals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144768" y="178308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327648" y="19293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6327648" y="225856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327648" y="262432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Ghaziabad pickup, replenishment, returns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933688" y="178308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9116568" y="19293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9116568" y="225856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Recruit &amp; Staff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116568" y="262432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Hire, BGV, payroll, statutory compliance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1938528" y="356616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4A343A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2121408" y="371246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B8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2121408" y="404164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Training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2121408" y="440740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B4A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 attendance + a trained bench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4727448" y="356616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4A343A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4910328" y="371246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B8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4910328" y="404164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Store Ops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4910328" y="440740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B4A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Open–close, sales, POS, VM, cash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7516368" y="356616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4A343A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7699248" y="371246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B8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700" dirty="0"/>
          </a:p>
        </p:txBody>
      </p:sp>
      <p:sp>
        <p:nvSpPr>
          <p:cNvPr id="32" name="Text 29"/>
          <p:cNvSpPr/>
          <p:nvPr/>
        </p:nvSpPr>
        <p:spPr>
          <a:xfrm>
            <a:off x="7699248" y="404164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Reporting</a:t>
            </a:r>
            <a:endParaRPr lang="en-US" sz="1500" dirty="0"/>
          </a:p>
        </p:txBody>
      </p:sp>
      <p:sp>
        <p:nvSpPr>
          <p:cNvPr id="33" name="Text 30"/>
          <p:cNvSpPr/>
          <p:nvPr/>
        </p:nvSpPr>
        <p:spPr>
          <a:xfrm>
            <a:off x="7699248" y="440740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B4A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Daily sales, footfall, stock, attendance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566928" y="5303520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single Team Leader on ProMarcom's payroll owns daily operations at every kiosk — your one point of contact.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STAFFING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people per kiosk — exactly to brief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0140696" y="420624"/>
            <a:ext cx="1481328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50800" dist="12700" dir="5400000">
              <a:srgbClr val="B8A894">
                <a:alpha val="35000"/>
              </a:srgbClr>
            </a:outerShdw>
          </a:effectLst>
        </p:spPr>
      </p:sp>
      <p:pic>
        <p:nvPicPr>
          <p:cNvPr id="5" name="Image 0" descr="assets/final/promarcom_logo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9568" y="507412"/>
            <a:ext cx="1243584" cy="283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572768"/>
            <a:ext cx="3471672" cy="1572768"/>
          </a:xfrm>
          <a:prstGeom prst="roundRect">
            <a:avLst>
              <a:gd name="adj" fmla="val 407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86384" y="1847088"/>
            <a:ext cx="749808" cy="749808"/>
          </a:xfrm>
          <a:prstGeom prst="ellipse">
            <a:avLst/>
          </a:prstGeom>
          <a:solidFill>
            <a:srgbClr val="F6F1E6"/>
          </a:solidFill>
          <a:ln w="19050">
            <a:solidFill>
              <a:srgbClr val="B8924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47088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1709928" y="1865376"/>
            <a:ext cx="2145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Sales Executives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709928" y="2304288"/>
            <a:ext cx="2145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Female, 22–25, fluent English, retail experience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58640" y="1572768"/>
            <a:ext cx="3471672" cy="1572768"/>
          </a:xfrm>
          <a:prstGeom prst="roundRect">
            <a:avLst>
              <a:gd name="adj" fmla="val 407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78096" y="1847088"/>
            <a:ext cx="749808" cy="749808"/>
          </a:xfrm>
          <a:prstGeom prst="ellipse">
            <a:avLst/>
          </a:prstGeom>
          <a:solidFill>
            <a:srgbClr val="F6F1E6"/>
          </a:solidFill>
          <a:ln w="19050">
            <a:solidFill>
              <a:srgbClr val="B892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8096" y="1847088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Text 11"/>
          <p:cNvSpPr/>
          <p:nvPr/>
        </p:nvSpPr>
        <p:spPr>
          <a:xfrm>
            <a:off x="5501640" y="1865376"/>
            <a:ext cx="2145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Sales Support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5501640" y="2304288"/>
            <a:ext cx="2145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Merchandising, stock, queue management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150352" y="1572768"/>
            <a:ext cx="3471672" cy="1572768"/>
          </a:xfrm>
          <a:prstGeom prst="roundRect">
            <a:avLst>
              <a:gd name="adj" fmla="val 407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369808" y="1847088"/>
            <a:ext cx="749808" cy="749808"/>
          </a:xfrm>
          <a:prstGeom prst="ellipse">
            <a:avLst/>
          </a:prstGeom>
          <a:solidFill>
            <a:srgbClr val="F6F1E6"/>
          </a:solidFill>
          <a:ln w="19050">
            <a:solidFill>
              <a:srgbClr val="B892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69808" y="1847088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500" dirty="0"/>
          </a:p>
        </p:txBody>
      </p:sp>
      <p:sp>
        <p:nvSpPr>
          <p:cNvPr id="19" name="Text 16"/>
          <p:cNvSpPr/>
          <p:nvPr/>
        </p:nvSpPr>
        <p:spPr>
          <a:xfrm>
            <a:off x="9293352" y="1865376"/>
            <a:ext cx="2145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Helper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9293352" y="2304288"/>
            <a:ext cx="2145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Housekeeping &amp; material handling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66928" y="3419856"/>
            <a:ext cx="3471672" cy="1572768"/>
          </a:xfrm>
          <a:prstGeom prst="roundRect">
            <a:avLst>
              <a:gd name="adj" fmla="val 407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86384" y="3694176"/>
            <a:ext cx="749808" cy="749808"/>
          </a:xfrm>
          <a:prstGeom prst="ellipse">
            <a:avLst/>
          </a:prstGeom>
          <a:solidFill>
            <a:srgbClr val="F6F1E6"/>
          </a:solidFill>
          <a:ln w="19050">
            <a:solidFill>
              <a:srgbClr val="B8924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3694176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500" dirty="0"/>
          </a:p>
        </p:txBody>
      </p:sp>
      <p:sp>
        <p:nvSpPr>
          <p:cNvPr id="24" name="Text 21"/>
          <p:cNvSpPr/>
          <p:nvPr/>
        </p:nvSpPr>
        <p:spPr>
          <a:xfrm>
            <a:off x="1709928" y="3712464"/>
            <a:ext cx="2145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Cashier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709928" y="4151376"/>
            <a:ext cx="2145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Experienced on POS / EDC machines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4358640" y="3419856"/>
            <a:ext cx="3471672" cy="1572768"/>
          </a:xfrm>
          <a:prstGeom prst="roundRect">
            <a:avLst>
              <a:gd name="adj" fmla="val 407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578096" y="3694176"/>
            <a:ext cx="749808" cy="749808"/>
          </a:xfrm>
          <a:prstGeom prst="ellipse">
            <a:avLst/>
          </a:prstGeom>
          <a:solidFill>
            <a:srgbClr val="F6F1E6"/>
          </a:solidFill>
          <a:ln w="19050">
            <a:solidFill>
              <a:srgbClr val="B8924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578096" y="3694176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500" dirty="0"/>
          </a:p>
        </p:txBody>
      </p:sp>
      <p:sp>
        <p:nvSpPr>
          <p:cNvPr id="29" name="Text 26"/>
          <p:cNvSpPr/>
          <p:nvPr/>
        </p:nvSpPr>
        <p:spPr>
          <a:xfrm>
            <a:off x="5501640" y="3712464"/>
            <a:ext cx="2145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Driver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5501640" y="4151376"/>
            <a:ext cx="2145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Stock transport &amp; replenishment runs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8150352" y="3419856"/>
            <a:ext cx="3471672" cy="1572768"/>
          </a:xfrm>
          <a:prstGeom prst="roundRect">
            <a:avLst>
              <a:gd name="adj" fmla="val 407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8369808" y="3694176"/>
            <a:ext cx="749808" cy="749808"/>
          </a:xfrm>
          <a:prstGeom prst="ellipse">
            <a:avLst/>
          </a:prstGeom>
          <a:solidFill>
            <a:srgbClr val="4A343A"/>
          </a:solidFill>
          <a:ln w="19050">
            <a:solidFill>
              <a:srgbClr val="B8924A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369808" y="3694176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D9B8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500" dirty="0"/>
          </a:p>
        </p:txBody>
      </p:sp>
      <p:sp>
        <p:nvSpPr>
          <p:cNvPr id="34" name="Text 31"/>
          <p:cNvSpPr/>
          <p:nvPr/>
        </p:nvSpPr>
        <p:spPr>
          <a:xfrm>
            <a:off x="9293352" y="3712464"/>
            <a:ext cx="2145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Leader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9293352" y="4151376"/>
            <a:ext cx="2145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Permanent ProMarcom employee — ops owner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566928" y="5349240"/>
            <a:ext cx="11055096" cy="658368"/>
          </a:xfrm>
          <a:prstGeom prst="roundRect">
            <a:avLst>
              <a:gd name="adj" fmla="val 9722"/>
            </a:avLst>
          </a:prstGeom>
          <a:solidFill>
            <a:srgbClr val="4A343A"/>
          </a:solidFill>
          <a:ln/>
        </p:spPr>
      </p:sp>
      <p:sp>
        <p:nvSpPr>
          <p:cNvPr id="37" name="Text 34"/>
          <p:cNvSpPr/>
          <p:nvPr/>
        </p:nvSpPr>
        <p:spPr>
          <a:xfrm>
            <a:off x="841248" y="5349240"/>
            <a:ext cx="105064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B8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 per kiosk</a:t>
            </a:r>
            <a:pPr indent="0" marL="0">
              <a:buNone/>
            </a:pPr>
            <a:r>
              <a:rPr lang="en-US" sz="1400" dirty="0">
                <a:solidFill>
                  <a:srgbClr val="F3EC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 ×   pop-ups   =   your deployed field force.   Illustrative 9-kiosk rollout  =  </a:t>
            </a:r>
            <a:pPr indent="0" marL="0">
              <a:buNone/>
            </a:pPr>
            <a:r>
              <a:rPr lang="en-US" sz="1400" b="1" dirty="0">
                <a:solidFill>
                  <a:srgbClr val="D9B8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108 trained staff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39" name="Text 36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PEOPLE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Recruit  ·  Train  ·  Guarantee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0140696" y="420624"/>
            <a:ext cx="1481328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50800" dist="12700" dir="5400000">
              <a:srgbClr val="B8A894">
                <a:alpha val="35000"/>
              </a:srgbClr>
            </a:outerShdw>
          </a:effectLst>
        </p:spPr>
      </p:sp>
      <p:pic>
        <p:nvPicPr>
          <p:cNvPr id="5" name="Image 0" descr="assets/final/promarcom_logo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9568" y="507412"/>
            <a:ext cx="1243584" cy="283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536192"/>
            <a:ext cx="3471672" cy="3337560"/>
          </a:xfrm>
          <a:prstGeom prst="roundRect">
            <a:avLst>
              <a:gd name="adj" fmla="val 1918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95528" y="1810512"/>
            <a:ext cx="457200" cy="45720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8" name="Text 5"/>
          <p:cNvSpPr/>
          <p:nvPr/>
        </p:nvSpPr>
        <p:spPr>
          <a:xfrm>
            <a:off x="795528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389888" y="1810512"/>
            <a:ext cx="2465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Recruit &amp; Verify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41248" y="2496312"/>
            <a:ext cx="296875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City-level sourcing &amp; referrals</a:t>
            </a:r>
            <a:endParaRPr lang="en-US" sz="10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Prioritise proven prior-season staff</a:t>
            </a:r>
            <a:endParaRPr lang="en-US" sz="10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Background verification before deploy</a:t>
            </a:r>
            <a:endParaRPr lang="en-US" sz="10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Onboard to payroll, full compliance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358640" y="1536192"/>
            <a:ext cx="3471672" cy="3337560"/>
          </a:xfrm>
          <a:prstGeom prst="roundRect">
            <a:avLst>
              <a:gd name="adj" fmla="val 1918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87240" y="1810512"/>
            <a:ext cx="457200" cy="45720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13" name="Text 10"/>
          <p:cNvSpPr/>
          <p:nvPr/>
        </p:nvSpPr>
        <p:spPr>
          <a:xfrm>
            <a:off x="4587240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5181600" y="1810512"/>
            <a:ext cx="2465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 to Doft Standard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632960" y="2496312"/>
            <a:ext cx="296875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 attendance at Doft's 1-day training</a:t>
            </a:r>
            <a:endParaRPr lang="en-US" sz="10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Scheduled 10–21 days before go-live</a:t>
            </a:r>
            <a:endParaRPr lang="en-US" sz="10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Completion tracked per candidate</a:t>
            </a:r>
            <a:endParaRPr lang="en-US" sz="10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Replacements trained too — always equal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8150352" y="1536192"/>
            <a:ext cx="3471672" cy="3337560"/>
          </a:xfrm>
          <a:prstGeom prst="roundRect">
            <a:avLst>
              <a:gd name="adj" fmla="val 1918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378952" y="1810512"/>
            <a:ext cx="457200" cy="45720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18" name="Text 15"/>
          <p:cNvSpPr/>
          <p:nvPr/>
        </p:nvSpPr>
        <p:spPr>
          <a:xfrm>
            <a:off x="8378952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8973312" y="1810512"/>
            <a:ext cx="2465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Zero-Gap Guarantee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8424672" y="2496312"/>
            <a:ext cx="296875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~15% trained bench held per city</a:t>
            </a:r>
            <a:endParaRPr lang="en-US" sz="10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Immediate same-day replacement</a:t>
            </a:r>
            <a:endParaRPr lang="en-US" sz="10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Attrition covered at no extra cost</a:t>
            </a:r>
            <a:endParaRPr lang="en-US" sz="10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Trading never stops for a vacancy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66928" y="5212080"/>
            <a:ext cx="11055096" cy="749808"/>
          </a:xfrm>
          <a:prstGeom prst="roundRect">
            <a:avLst>
              <a:gd name="adj" fmla="val 8537"/>
            </a:avLst>
          </a:prstGeom>
          <a:solidFill>
            <a:srgbClr val="9E5A45"/>
          </a:solidFill>
          <a:ln/>
        </p:spPr>
      </p:sp>
      <p:sp>
        <p:nvSpPr>
          <p:cNvPr id="22" name="Text 19"/>
          <p:cNvSpPr/>
          <p:nvPr/>
        </p:nvSpPr>
        <p:spPr>
          <a:xfrm>
            <a:off x="841248" y="5212080"/>
            <a:ext cx="105064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Contractual commitment:  any attrition after training or during operations is replaced immediately with equally-trained staff — at no additional cost to Doft.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SETUP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Kiosk, mall coordination &amp; compliance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0140696" y="420624"/>
            <a:ext cx="1481328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50800" dist="12700" dir="5400000">
              <a:srgbClr val="B8A894">
                <a:alpha val="35000"/>
              </a:srgbClr>
            </a:outerShdw>
          </a:effectLst>
        </p:spPr>
      </p:sp>
      <p:pic>
        <p:nvPicPr>
          <p:cNvPr id="5" name="Image 0" descr="assets/final/promarcom_logo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9568" y="507412"/>
            <a:ext cx="1243584" cy="283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00200"/>
            <a:ext cx="11055096" cy="1024128"/>
          </a:xfrm>
          <a:prstGeom prst="roundRect">
            <a:avLst>
              <a:gd name="adj" fmla="val 625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41248" y="1883664"/>
            <a:ext cx="457200" cy="457200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1883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B8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527048" y="1709928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Kiosk fabrication &amp; install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544568" y="1709928"/>
            <a:ext cx="68031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On-site fabrication to Doft-approved design; transport, install, maintain, dismantle &amp; return fixtures — with a 3-day buffer before go-live.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66928" y="2734056"/>
            <a:ext cx="11055096" cy="1024128"/>
          </a:xfrm>
          <a:prstGeom prst="roundRect">
            <a:avLst>
              <a:gd name="adj" fmla="val 625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41248" y="3017520"/>
            <a:ext cx="457200" cy="457200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13" name="Text 10"/>
          <p:cNvSpPr/>
          <p:nvPr/>
        </p:nvSpPr>
        <p:spPr>
          <a:xfrm>
            <a:off x="841248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B8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527048" y="2843784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Mall coordination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544568" y="2843784"/>
            <a:ext cx="68031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Liaison with mall management; electricity, access passes, loading/unloading and operational approvals.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66928" y="3867912"/>
            <a:ext cx="11055096" cy="1024128"/>
          </a:xfrm>
          <a:prstGeom prst="roundRect">
            <a:avLst>
              <a:gd name="adj" fmla="val 625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41248" y="4151376"/>
            <a:ext cx="457200" cy="457200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18" name="Text 15"/>
          <p:cNvSpPr/>
          <p:nvPr/>
        </p:nvSpPr>
        <p:spPr>
          <a:xfrm>
            <a:off x="841248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B8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1527048" y="3977640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Legal &amp; licensing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4544568" y="3977640"/>
            <a:ext cx="68031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 permissions, licences and documentation — started at T-7 weeks to de-risk go-live.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5001768"/>
            <a:ext cx="11055096" cy="1024128"/>
          </a:xfrm>
          <a:prstGeom prst="roundRect">
            <a:avLst>
              <a:gd name="adj" fmla="val 625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41248" y="5285232"/>
            <a:ext cx="457200" cy="457200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23" name="Text 20"/>
          <p:cNvSpPr/>
          <p:nvPr/>
        </p:nvSpPr>
        <p:spPr>
          <a:xfrm>
            <a:off x="841248" y="5285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B8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1527048" y="5111496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Compliance sign-off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4544568" y="5111496"/>
            <a:ext cx="68031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Shops &amp; Establishment, GST/e-invoicing, PF/ESIC, insurance, fire &amp; electrical, staff BGV — signed before opening.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SUPPLY CHAIN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Logistics &amp; stock replenishment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0140696" y="420624"/>
            <a:ext cx="1481328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50800" dist="12700" dir="5400000">
              <a:srgbClr val="B8A894">
                <a:alpha val="35000"/>
              </a:srgbClr>
            </a:outerShdw>
          </a:effectLst>
        </p:spPr>
      </p:sp>
      <p:pic>
        <p:nvPicPr>
          <p:cNvPr id="5" name="Image 0" descr="assets/final/promarcom_logo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9568" y="507412"/>
            <a:ext cx="1243584" cy="283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965960"/>
            <a:ext cx="2386584" cy="2514600"/>
          </a:xfrm>
          <a:prstGeom prst="roundRect">
            <a:avLst>
              <a:gd name="adj" fmla="val 2682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440180" y="2331720"/>
            <a:ext cx="640080" cy="64008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8" name="Text 5"/>
          <p:cNvSpPr/>
          <p:nvPr/>
        </p:nvSpPr>
        <p:spPr>
          <a:xfrm>
            <a:off x="1440180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76656" y="3200400"/>
            <a:ext cx="2167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Ghaziabad Warehouse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04088" y="3749040"/>
            <a:ext cx="2112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7F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 from Doft's warehouse; insured in transit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2980944" y="2468880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92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3456432" y="1965960"/>
            <a:ext cx="2386584" cy="2514600"/>
          </a:xfrm>
          <a:prstGeom prst="roundRect">
            <a:avLst>
              <a:gd name="adj" fmla="val 2682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29684" y="2331720"/>
            <a:ext cx="640080" cy="64008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14" name="Text 11"/>
          <p:cNvSpPr/>
          <p:nvPr/>
        </p:nvSpPr>
        <p:spPr>
          <a:xfrm>
            <a:off x="4329684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3566160" y="3200400"/>
            <a:ext cx="2167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Stockroom · ~90 sq ft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3593592" y="3749040"/>
            <a:ext cx="2112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7F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Local buffer beside each kiosk for fast refill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870448" y="2468880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92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6345936" y="1965960"/>
            <a:ext cx="2386584" cy="2514600"/>
          </a:xfrm>
          <a:prstGeom prst="roundRect">
            <a:avLst>
              <a:gd name="adj" fmla="val 2682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7219188" y="2331720"/>
            <a:ext cx="640080" cy="64008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20" name="Text 17"/>
          <p:cNvSpPr/>
          <p:nvPr/>
        </p:nvSpPr>
        <p:spPr>
          <a:xfrm>
            <a:off x="7219188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6455664" y="3200400"/>
            <a:ext cx="2167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Kiosk Shelf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6483096" y="3749040"/>
            <a:ext cx="2112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7F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Daily fill to plan; reorder at minimum levels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8759952" y="2468880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92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9235440" y="1965960"/>
            <a:ext cx="2386584" cy="2514600"/>
          </a:xfrm>
          <a:prstGeom prst="roundRect">
            <a:avLst>
              <a:gd name="adj" fmla="val 2682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10108692" y="2331720"/>
            <a:ext cx="640080" cy="64008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26" name="Text 23"/>
          <p:cNvSpPr/>
          <p:nvPr/>
        </p:nvSpPr>
        <p:spPr>
          <a:xfrm>
            <a:off x="10108692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7" name="Text 24"/>
          <p:cNvSpPr/>
          <p:nvPr/>
        </p:nvSpPr>
        <p:spPr>
          <a:xfrm>
            <a:off x="9345168" y="3200400"/>
            <a:ext cx="2167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Reconcile &amp; Return</a:t>
            </a:r>
            <a:endParaRPr lang="en-US" sz="1350" dirty="0"/>
          </a:p>
        </p:txBody>
      </p:sp>
      <p:sp>
        <p:nvSpPr>
          <p:cNvPr id="28" name="Text 25"/>
          <p:cNvSpPr/>
          <p:nvPr/>
        </p:nvSpPr>
        <p:spPr>
          <a:xfrm>
            <a:off x="9372600" y="3749040"/>
            <a:ext cx="2112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7F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Daily counts; unsold stock returned &amp; reconciled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66928" y="5074920"/>
            <a:ext cx="11055096" cy="749808"/>
          </a:xfrm>
          <a:prstGeom prst="roundRect">
            <a:avLst>
              <a:gd name="adj" fmla="val 8537"/>
            </a:avLst>
          </a:prstGeom>
          <a:solidFill>
            <a:srgbClr val="EADFCE"/>
          </a:solidFill>
          <a:ln/>
        </p:spPr>
      </p:sp>
      <p:sp>
        <p:nvSpPr>
          <p:cNvPr id="30" name="Text 27"/>
          <p:cNvSpPr/>
          <p:nvPr/>
        </p:nvSpPr>
        <p:spPr>
          <a:xfrm>
            <a:off x="841248" y="5074920"/>
            <a:ext cx="105064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Timely replenishment protects peak-day sales — no stock-outs when footfall is highest.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operations &amp; reporting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0140696" y="420624"/>
            <a:ext cx="1481328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50800" dist="12700" dir="5400000">
              <a:srgbClr val="B8A894">
                <a:alpha val="35000"/>
              </a:srgbClr>
            </a:outerShdw>
          </a:effectLst>
        </p:spPr>
      </p:sp>
      <p:pic>
        <p:nvPicPr>
          <p:cNvPr id="5" name="Image 0" descr="assets/final/promarcom_logo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9568" y="507412"/>
            <a:ext cx="1243584" cy="283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1389888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7F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Consistent open-to-close execution, with a standard daily report to Doft per kiosk — consolidated by city.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66928" y="2011680"/>
            <a:ext cx="2558034" cy="1097280"/>
          </a:xfrm>
          <a:prstGeom prst="roundRect">
            <a:avLst>
              <a:gd name="adj" fmla="val 5833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04672" y="2478024"/>
            <a:ext cx="164592" cy="164592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9" name="Text 6"/>
          <p:cNvSpPr/>
          <p:nvPr/>
        </p:nvSpPr>
        <p:spPr>
          <a:xfrm>
            <a:off x="1042416" y="2011680"/>
            <a:ext cx="195453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Sales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99282" y="2011680"/>
            <a:ext cx="2558034" cy="1097280"/>
          </a:xfrm>
          <a:prstGeom prst="roundRect">
            <a:avLst>
              <a:gd name="adj" fmla="val 5833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7026" y="2478024"/>
            <a:ext cx="164592" cy="164592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12" name="Text 9"/>
          <p:cNvSpPr/>
          <p:nvPr/>
        </p:nvSpPr>
        <p:spPr>
          <a:xfrm>
            <a:off x="3874770" y="2011680"/>
            <a:ext cx="195453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Footfall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231636" y="2011680"/>
            <a:ext cx="2558034" cy="1097280"/>
          </a:xfrm>
          <a:prstGeom prst="roundRect">
            <a:avLst>
              <a:gd name="adj" fmla="val 5833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69380" y="2478024"/>
            <a:ext cx="164592" cy="164592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15" name="Text 12"/>
          <p:cNvSpPr/>
          <p:nvPr/>
        </p:nvSpPr>
        <p:spPr>
          <a:xfrm>
            <a:off x="6707124" y="2011680"/>
            <a:ext cx="195453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Conversion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9063990" y="2011680"/>
            <a:ext cx="2558034" cy="1097280"/>
          </a:xfrm>
          <a:prstGeom prst="roundRect">
            <a:avLst>
              <a:gd name="adj" fmla="val 5833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9301734" y="2478024"/>
            <a:ext cx="164592" cy="164592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18" name="Text 15"/>
          <p:cNvSpPr/>
          <p:nvPr/>
        </p:nvSpPr>
        <p:spPr>
          <a:xfrm>
            <a:off x="9539478" y="2011680"/>
            <a:ext cx="195453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Inventory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566928" y="3383280"/>
            <a:ext cx="2558034" cy="1097280"/>
          </a:xfrm>
          <a:prstGeom prst="roundRect">
            <a:avLst>
              <a:gd name="adj" fmla="val 5833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4672" y="3849624"/>
            <a:ext cx="164592" cy="164592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21" name="Text 18"/>
          <p:cNvSpPr/>
          <p:nvPr/>
        </p:nvSpPr>
        <p:spPr>
          <a:xfrm>
            <a:off x="1042416" y="3383280"/>
            <a:ext cx="195453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Replenishment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3399282" y="3383280"/>
            <a:ext cx="2558034" cy="1097280"/>
          </a:xfrm>
          <a:prstGeom prst="roundRect">
            <a:avLst>
              <a:gd name="adj" fmla="val 5833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3637026" y="3849624"/>
            <a:ext cx="164592" cy="164592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24" name="Text 21"/>
          <p:cNvSpPr/>
          <p:nvPr/>
        </p:nvSpPr>
        <p:spPr>
          <a:xfrm>
            <a:off x="3874770" y="3383280"/>
            <a:ext cx="195453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Attendance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6231636" y="3383280"/>
            <a:ext cx="2558034" cy="1097280"/>
          </a:xfrm>
          <a:prstGeom prst="roundRect">
            <a:avLst>
              <a:gd name="adj" fmla="val 5833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469380" y="3849624"/>
            <a:ext cx="164592" cy="164592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27" name="Text 24"/>
          <p:cNvSpPr/>
          <p:nvPr/>
        </p:nvSpPr>
        <p:spPr>
          <a:xfrm>
            <a:off x="6707124" y="3383280"/>
            <a:ext cx="195453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Customer Feedback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9063990" y="3383280"/>
            <a:ext cx="2558034" cy="1097280"/>
          </a:xfrm>
          <a:prstGeom prst="roundRect">
            <a:avLst>
              <a:gd name="adj" fmla="val 5833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9301734" y="3849624"/>
            <a:ext cx="164592" cy="164592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30" name="Text 27"/>
          <p:cNvSpPr/>
          <p:nvPr/>
        </p:nvSpPr>
        <p:spPr>
          <a:xfrm>
            <a:off x="9539478" y="3383280"/>
            <a:ext cx="195453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Operational Issues</a:t>
            </a:r>
            <a:endParaRPr 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566928" y="5029200"/>
            <a:ext cx="11055096" cy="932688"/>
          </a:xfrm>
          <a:prstGeom prst="roundRect">
            <a:avLst>
              <a:gd name="adj" fmla="val 6863"/>
            </a:avLst>
          </a:prstGeom>
          <a:solidFill>
            <a:srgbClr val="4A343A"/>
          </a:solidFill>
          <a:ln/>
        </p:spPr>
      </p:sp>
      <p:sp>
        <p:nvSpPr>
          <p:cNvPr id="32" name="Text 29"/>
          <p:cNvSpPr/>
          <p:nvPr/>
        </p:nvSpPr>
        <p:spPr>
          <a:xfrm>
            <a:off x="886968" y="514807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B8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GOVERNANCE CADENCE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886968" y="5468112"/>
            <a:ext cx="10415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B8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Daily</a:t>
            </a:r>
            <a:pPr indent="0" marL="0">
              <a:buNone/>
            </a:pPr>
            <a:r>
              <a:rPr lang="en-US" sz="1250" dirty="0">
                <a:solidFill>
                  <a:srgbClr val="F3EC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written report     </a:t>
            </a:r>
            <a:pPr indent="0" marL="0">
              <a:buNone/>
            </a:pPr>
            <a:r>
              <a:rPr lang="en-US" sz="1250" dirty="0">
                <a:solidFill>
                  <a:srgbClr val="B892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   </a:t>
            </a:r>
            <a:pPr indent="0" marL="0">
              <a:buNone/>
            </a:pPr>
            <a:r>
              <a:rPr lang="en-US" sz="1250" b="1" dirty="0">
                <a:solidFill>
                  <a:srgbClr val="D9B8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Weekly</a:t>
            </a:r>
            <a:pPr indent="0" marL="0">
              <a:buNone/>
            </a:pPr>
            <a:r>
              <a:rPr lang="en-US" sz="1250" dirty="0">
                <a:solidFill>
                  <a:srgbClr val="F3EC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city review call     </a:t>
            </a:r>
            <a:pPr indent="0" marL="0">
              <a:buNone/>
            </a:pPr>
            <a:r>
              <a:rPr lang="en-US" sz="1250" dirty="0">
                <a:solidFill>
                  <a:srgbClr val="B892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   </a:t>
            </a:r>
            <a:pPr indent="0" marL="0">
              <a:buNone/>
            </a:pPr>
            <a:r>
              <a:rPr lang="en-US" sz="1250" b="1" dirty="0">
                <a:solidFill>
                  <a:srgbClr val="D9B8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End-of-season</a:t>
            </a:r>
            <a:pPr indent="0" marL="0">
              <a:buNone/>
            </a:pPr>
            <a:r>
              <a:rPr lang="en-US" sz="1250" dirty="0">
                <a:solidFill>
                  <a:srgbClr val="F3EC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reconciliation</a:t>
            </a:r>
            <a:endParaRPr lang="en-US" sz="1250" dirty="0"/>
          </a:p>
        </p:txBody>
      </p:sp>
      <p:sp>
        <p:nvSpPr>
          <p:cNvPr id="34" name="Text 31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timeline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0140696" y="420624"/>
            <a:ext cx="1481328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50800" dist="12700" dir="5400000">
              <a:srgbClr val="B8A894">
                <a:alpha val="35000"/>
              </a:srgbClr>
            </a:outerShdw>
          </a:effectLst>
        </p:spPr>
      </p:sp>
      <p:pic>
        <p:nvPicPr>
          <p:cNvPr id="5" name="Image 0" descr="assets/final/promarcom_logo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9568" y="507412"/>
            <a:ext cx="1243584" cy="283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344168" y="3154680"/>
            <a:ext cx="9500616" cy="0"/>
          </a:xfrm>
          <a:prstGeom prst="line">
            <a:avLst/>
          </a:prstGeom>
          <a:noFill/>
          <a:ln w="25400">
            <a:solidFill>
              <a:srgbClr val="C39A9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1783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T-8w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207568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Award &amp; kick-off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1344168" y="2624328"/>
            <a:ext cx="0" cy="530352"/>
          </a:xfrm>
          <a:prstGeom prst="line">
            <a:avLst/>
          </a:prstGeom>
          <a:noFill/>
          <a:ln w="12700">
            <a:solidFill>
              <a:srgbClr val="E3D8C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243584" y="3054096"/>
            <a:ext cx="201168" cy="201168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11" name="Text 8"/>
          <p:cNvSpPr/>
          <p:nvPr/>
        </p:nvSpPr>
        <p:spPr>
          <a:xfrm>
            <a:off x="1924159" y="36118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T-7w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924159" y="390448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Malls &amp; licences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2701399" y="3154680"/>
            <a:ext cx="0" cy="457200"/>
          </a:xfrm>
          <a:prstGeom prst="line">
            <a:avLst/>
          </a:prstGeom>
          <a:noFill/>
          <a:ln w="12700">
            <a:solidFill>
              <a:srgbClr val="E3D8C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00815" y="3054096"/>
            <a:ext cx="201168" cy="201168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15" name="Text 12"/>
          <p:cNvSpPr/>
          <p:nvPr/>
        </p:nvSpPr>
        <p:spPr>
          <a:xfrm>
            <a:off x="3281390" y="1783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T-6w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281390" y="207568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Recruit &amp; BGV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058630" y="2624328"/>
            <a:ext cx="0" cy="530352"/>
          </a:xfrm>
          <a:prstGeom prst="line">
            <a:avLst/>
          </a:prstGeom>
          <a:noFill/>
          <a:ln w="12700">
            <a:solidFill>
              <a:srgbClr val="E3D8C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958046" y="3054096"/>
            <a:ext cx="201168" cy="201168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19" name="Text 16"/>
          <p:cNvSpPr/>
          <p:nvPr/>
        </p:nvSpPr>
        <p:spPr>
          <a:xfrm>
            <a:off x="4638621" y="36118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T-3w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638621" y="390448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Kiosk fit-out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415861" y="3154680"/>
            <a:ext cx="0" cy="457200"/>
          </a:xfrm>
          <a:prstGeom prst="line">
            <a:avLst/>
          </a:prstGeom>
          <a:noFill/>
          <a:ln w="12700">
            <a:solidFill>
              <a:srgbClr val="E3D8C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315277" y="3054096"/>
            <a:ext cx="201168" cy="201168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23" name="Text 20"/>
          <p:cNvSpPr/>
          <p:nvPr/>
        </p:nvSpPr>
        <p:spPr>
          <a:xfrm>
            <a:off x="5995851" y="1783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T-2w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995851" y="207568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Doft training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773091" y="2624328"/>
            <a:ext cx="0" cy="530352"/>
          </a:xfrm>
          <a:prstGeom prst="line">
            <a:avLst/>
          </a:prstGeom>
          <a:noFill/>
          <a:ln w="12700">
            <a:solidFill>
              <a:srgbClr val="E3D8C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672507" y="3054096"/>
            <a:ext cx="201168" cy="201168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27" name="Text 24"/>
          <p:cNvSpPr/>
          <p:nvPr/>
        </p:nvSpPr>
        <p:spPr>
          <a:xfrm>
            <a:off x="7353082" y="36118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T-1w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7353082" y="390448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Stock &amp; first fill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8130322" y="3154680"/>
            <a:ext cx="0" cy="457200"/>
          </a:xfrm>
          <a:prstGeom prst="line">
            <a:avLst/>
          </a:prstGeom>
          <a:noFill/>
          <a:ln w="12700">
            <a:solidFill>
              <a:srgbClr val="E3D8C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029738" y="3054096"/>
            <a:ext cx="201168" cy="201168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31" name="Text 28"/>
          <p:cNvSpPr/>
          <p:nvPr/>
        </p:nvSpPr>
        <p:spPr>
          <a:xfrm>
            <a:off x="8710313" y="1783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710313" y="207568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Go-live — ops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9487553" y="2624328"/>
            <a:ext cx="0" cy="530352"/>
          </a:xfrm>
          <a:prstGeom prst="line">
            <a:avLst/>
          </a:prstGeom>
          <a:noFill/>
          <a:ln w="12700">
            <a:solidFill>
              <a:srgbClr val="E3D8C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9386969" y="3054096"/>
            <a:ext cx="201168" cy="201168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35" name="Text 32"/>
          <p:cNvSpPr/>
          <p:nvPr/>
        </p:nvSpPr>
        <p:spPr>
          <a:xfrm>
            <a:off x="10067544" y="36118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T+6w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10067544" y="390448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Dismantle &amp; review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10844784" y="3154680"/>
            <a:ext cx="0" cy="457200"/>
          </a:xfrm>
          <a:prstGeom prst="line">
            <a:avLst/>
          </a:prstGeom>
          <a:noFill/>
          <a:ln w="12700">
            <a:solidFill>
              <a:srgbClr val="E3D8C7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0744200" y="3054096"/>
            <a:ext cx="201168" cy="201168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39" name="Text 36"/>
          <p:cNvSpPr/>
          <p:nvPr/>
        </p:nvSpPr>
        <p:spPr>
          <a:xfrm>
            <a:off x="566928" y="571500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C7F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Relative to go-live (T). Operations run 3–5 weeks per the brief. Full per-region Gantt is in the operations workbook.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41" name="Text 38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A3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1206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B8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ROLLOUT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illustrative first-season footprint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B4A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starting scenario for a premium brand — fully scalable. Final cities &amp; kiosk counts are yours to set.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3441192" cy="1691640"/>
          </a:xfrm>
          <a:prstGeom prst="roundRect">
            <a:avLst>
              <a:gd name="adj" fmla="val 3784"/>
            </a:avLst>
          </a:prstGeom>
          <a:solidFill>
            <a:srgbClr val="3A2830"/>
          </a:solidFill>
          <a:ln w="12700">
            <a:solidFill>
              <a:srgbClr val="5C404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2606040"/>
            <a:ext cx="2892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Delhi-NCR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41248" y="3246120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B8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kiosks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73880" y="2286000"/>
            <a:ext cx="3441192" cy="1691640"/>
          </a:xfrm>
          <a:prstGeom prst="roundRect">
            <a:avLst>
              <a:gd name="adj" fmla="val 3784"/>
            </a:avLst>
          </a:prstGeom>
          <a:solidFill>
            <a:srgbClr val="3A2830"/>
          </a:solidFill>
          <a:ln w="12700">
            <a:solidFill>
              <a:srgbClr val="5C404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48200" y="2606040"/>
            <a:ext cx="2892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Mumbai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648200" y="3246120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B8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kiosks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180832" y="2286000"/>
            <a:ext cx="3441192" cy="1691640"/>
          </a:xfrm>
          <a:prstGeom prst="roundRect">
            <a:avLst>
              <a:gd name="adj" fmla="val 3784"/>
            </a:avLst>
          </a:prstGeom>
          <a:solidFill>
            <a:srgbClr val="3A2830"/>
          </a:solidFill>
          <a:ln w="12700">
            <a:solidFill>
              <a:srgbClr val="5C404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55152" y="2606040"/>
            <a:ext cx="2892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Bengaluru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455152" y="3246120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B8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kiosks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4343400"/>
            <a:ext cx="0" cy="1325880"/>
          </a:xfrm>
          <a:prstGeom prst="line">
            <a:avLst/>
          </a:prstGeom>
          <a:noFill/>
          <a:ln w="25400">
            <a:solidFill>
              <a:srgbClr val="B892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343400"/>
            <a:ext cx="23065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9B8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749808" y="5184648"/>
            <a:ext cx="23065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B4A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Total kiosks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422142" y="4343400"/>
            <a:ext cx="0" cy="1325880"/>
          </a:xfrm>
          <a:prstGeom prst="line">
            <a:avLst/>
          </a:prstGeom>
          <a:noFill/>
          <a:ln w="25400">
            <a:solidFill>
              <a:srgbClr val="B892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05022" y="4343400"/>
            <a:ext cx="23065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9B8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108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3605022" y="5184648"/>
            <a:ext cx="23065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B4A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Trained staff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77356" y="4343400"/>
            <a:ext cx="0" cy="1325880"/>
          </a:xfrm>
          <a:prstGeom prst="line">
            <a:avLst/>
          </a:prstGeom>
          <a:noFill/>
          <a:ln w="25400">
            <a:solidFill>
              <a:srgbClr val="B892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60236" y="4343400"/>
            <a:ext cx="23065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9B8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3–5 wks</a:t>
            </a:r>
            <a:endParaRPr lang="en-US" sz="3800" dirty="0"/>
          </a:p>
        </p:txBody>
      </p:sp>
      <p:sp>
        <p:nvSpPr>
          <p:cNvPr id="22" name="Text 20"/>
          <p:cNvSpPr/>
          <p:nvPr/>
        </p:nvSpPr>
        <p:spPr>
          <a:xfrm>
            <a:off x="6460236" y="5184648"/>
            <a:ext cx="23065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B4A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Operating window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132570" y="4343400"/>
            <a:ext cx="0" cy="1325880"/>
          </a:xfrm>
          <a:prstGeom prst="line">
            <a:avLst/>
          </a:prstGeom>
          <a:noFill/>
          <a:ln w="25400">
            <a:solidFill>
              <a:srgbClr val="B892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315450" y="4343400"/>
            <a:ext cx="23065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9B8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2028</a:t>
            </a:r>
            <a:endParaRPr lang="en-US" sz="3800" dirty="0"/>
          </a:p>
        </p:txBody>
      </p:sp>
      <p:sp>
        <p:nvSpPr>
          <p:cNvPr id="25" name="Text 23"/>
          <p:cNvSpPr/>
          <p:nvPr/>
        </p:nvSpPr>
        <p:spPr>
          <a:xfrm>
            <a:off x="9315450" y="5184648"/>
            <a:ext cx="23065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B4A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Committed through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66928" y="594360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9B4A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Scenario only — the brief specifies 2–4 pop-ups per region across multiple cities. Change two inputs in the workbook to re-scope.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C9B4A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B4A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COMMERCIALS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transparent, built-up cost model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0140696" y="420624"/>
            <a:ext cx="1481328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50800" dist="12700" dir="5400000">
              <a:srgbClr val="B8A894">
                <a:alpha val="35000"/>
              </a:srgbClr>
            </a:outerShdw>
          </a:effectLst>
        </p:spPr>
      </p:sp>
      <p:pic>
        <p:nvPicPr>
          <p:cNvPr id="5" name="Image 0" descr="assets/final/promarcom_logo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9568" y="507412"/>
            <a:ext cx="1243584" cy="283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137160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7F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Priced bottom-up per kiosk, then rolled up. Every line is an editable input in the workbook.</a:t>
            </a:r>
            <a:endParaRPr lang="en-US" sz="1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66928" y="187452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6126480" y="1920240"/>
            <a:ext cx="5495544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309360" y="1920240"/>
            <a:ext cx="3666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 cost / kiosk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9884664" y="192024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 11.3 L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126480" y="2542032"/>
            <a:ext cx="5495544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09360" y="2542032"/>
            <a:ext cx="3666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Management margin (15%)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9884664" y="2542032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 1.7 L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126480" y="3163824"/>
            <a:ext cx="5495544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309360" y="3163824"/>
            <a:ext cx="3666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Contract value / kiosk (pre-GST)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9884664" y="3163824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 12.9 L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6126480" y="3785616"/>
            <a:ext cx="5495544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309360" y="3785616"/>
            <a:ext cx="3666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× 9 kiosks (illustrative)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9884664" y="3785616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 1.16 Cr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126480" y="4407408"/>
            <a:ext cx="5495544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309360" y="4407408"/>
            <a:ext cx="3666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GST (18%)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9884664" y="440740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 0.21 Cr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6126480" y="5029200"/>
            <a:ext cx="5495544" cy="566928"/>
          </a:xfrm>
          <a:prstGeom prst="roundRect">
            <a:avLst>
              <a:gd name="adj" fmla="val 8065"/>
            </a:avLst>
          </a:prstGeom>
          <a:solidFill>
            <a:srgbClr val="4A343A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6309360" y="5029200"/>
            <a:ext cx="3666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3EC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Total programme (incl. GST)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9884664" y="502920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9B8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 1.37 Cr</a:t>
            </a:r>
            <a:endParaRPr lang="en-US" sz="1400" dirty="0"/>
          </a:p>
        </p:txBody>
      </p:sp>
      <p:sp>
        <p:nvSpPr>
          <p:cNvPr id="26" name="Text 22"/>
          <p:cNvSpPr/>
          <p:nvPr/>
        </p:nvSpPr>
        <p:spPr>
          <a:xfrm>
            <a:off x="566928" y="594360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7F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* Mall licence / space fee is the biggest swing item and is often reimbursed by the brand. Figures illustrative at placeholder rates.</a:t>
            </a:r>
            <a:endParaRPr lang="en-US" sz="850" dirty="0"/>
          </a:p>
        </p:txBody>
      </p:sp>
      <p:sp>
        <p:nvSpPr>
          <p:cNvPr id="27" name="Text 23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28" name="Text 24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ASSURANCE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 protect the season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0140696" y="420624"/>
            <a:ext cx="1481328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50800" dist="12700" dir="5400000">
              <a:srgbClr val="B8A894">
                <a:alpha val="35000"/>
              </a:srgbClr>
            </a:outerShdw>
          </a:effectLst>
        </p:spPr>
      </p:sp>
      <p:pic>
        <p:nvPicPr>
          <p:cNvPr id="5" name="Image 0" descr="assets/final/promarcom_logo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9568" y="507412"/>
            <a:ext cx="1243584" cy="283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4114800" cy="475488"/>
          </a:xfrm>
          <a:prstGeom prst="rect">
            <a:avLst/>
          </a:prstGeom>
          <a:solidFill>
            <a:srgbClr val="4A343A"/>
          </a:solidFill>
          <a:ln/>
        </p:spPr>
      </p:sp>
      <p:sp>
        <p:nvSpPr>
          <p:cNvPr id="7" name="Shape 4"/>
          <p:cNvSpPr/>
          <p:nvPr/>
        </p:nvSpPr>
        <p:spPr>
          <a:xfrm>
            <a:off x="4681728" y="1645920"/>
            <a:ext cx="6940296" cy="475488"/>
          </a:xfrm>
          <a:prstGeom prst="rect">
            <a:avLst/>
          </a:prstGeom>
          <a:solidFill>
            <a:srgbClr val="3A2830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645920"/>
            <a:ext cx="3749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B8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RISK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937760" y="1645920"/>
            <a:ext cx="65745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B8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MITIGATION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2121408"/>
            <a:ext cx="11055096" cy="822960"/>
          </a:xfrm>
          <a:prstGeom prst="rect">
            <a:avLst/>
          </a:prstGeom>
          <a:solidFill>
            <a:srgbClr val="EADFCE"/>
          </a:solidFill>
          <a:ln w="6350">
            <a:solidFill>
              <a:srgbClr val="E3D8C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2121408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 attrition after training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937760" y="2121408"/>
            <a:ext cx="6437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15% trained bench; same-day no-cost replacement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2944368"/>
            <a:ext cx="11055096" cy="822960"/>
          </a:xfrm>
          <a:prstGeom prst="rect">
            <a:avLst/>
          </a:prstGeom>
          <a:solidFill>
            <a:srgbClr val="FCFAF5"/>
          </a:solidFill>
          <a:ln w="6350">
            <a:solidFill>
              <a:srgbClr val="E3D8C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2960" y="2944368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Mall permission delays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4937760" y="2944368"/>
            <a:ext cx="6437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Licensing kicked off at T-7w; parallel mall shortlist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767328"/>
            <a:ext cx="11055096" cy="822960"/>
          </a:xfrm>
          <a:prstGeom prst="rect">
            <a:avLst/>
          </a:prstGeom>
          <a:solidFill>
            <a:srgbClr val="EADFCE"/>
          </a:solidFill>
          <a:ln w="6350">
            <a:solidFill>
              <a:srgbClr val="E3D8C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22960" y="3767328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Stock-out on peak days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4937760" y="3767328"/>
            <a:ext cx="6437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Reorder levels + daily replenishment from stockroom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590288"/>
            <a:ext cx="11055096" cy="822960"/>
          </a:xfrm>
          <a:prstGeom prst="rect">
            <a:avLst/>
          </a:prstGeom>
          <a:solidFill>
            <a:srgbClr val="FCFAF5"/>
          </a:solidFill>
          <a:ln w="6350">
            <a:solidFill>
              <a:srgbClr val="E3D8C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2960" y="4590288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 / EDC downtime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937760" y="4590288"/>
            <a:ext cx="6437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EDC + connectivity failover; trained cashier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66928" y="5413248"/>
            <a:ext cx="11055096" cy="822960"/>
          </a:xfrm>
          <a:prstGeom prst="rect">
            <a:avLst/>
          </a:prstGeom>
          <a:solidFill>
            <a:srgbClr val="EADFCE"/>
          </a:solidFill>
          <a:ln w="6350">
            <a:solidFill>
              <a:srgbClr val="E3D8C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2960" y="5413248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Kiosk fabrication delay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4937760" y="5413248"/>
            <a:ext cx="6437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Vendor SLA + 3-day buffer before go-live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TOOLKIT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operations workbook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0140696" y="420624"/>
            <a:ext cx="1481328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50800" dist="12700" dir="5400000">
              <a:srgbClr val="B8A894">
                <a:alpha val="35000"/>
              </a:srgbClr>
            </a:outerShdw>
          </a:effectLst>
        </p:spPr>
      </p:sp>
      <p:pic>
        <p:nvPicPr>
          <p:cNvPr id="5" name="Image 0" descr="assets/final/promarcom_logo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9568" y="507412"/>
            <a:ext cx="1243584" cy="283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137160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7F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This deck ships with a live Excel workbook — the operating system for the engagement. Edit the assumptions; everything recalculates.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66928" y="2011680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2011680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344168" y="2011680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Assumptions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99282" y="2011680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582162" y="2011680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176522" y="2011680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Timeline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231636" y="2011680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14516" y="2011680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7008876" y="2011680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Staffing Plan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9063990" y="2011680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246870" y="2011680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9841230" y="2011680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Manpower Cost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66928" y="3072384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49808" y="3072384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1344168" y="3072384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Budget Summary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399282" y="3072384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582162" y="3072384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4176522" y="3072384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Recruitment Tracker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231636" y="3072384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414516" y="3072384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7008876" y="3072384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Attendance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9063990" y="3072384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246870" y="3072384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9841230" y="3072384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Daily Sales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566928" y="4133088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49808" y="4133088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800" dirty="0"/>
          </a:p>
        </p:txBody>
      </p:sp>
      <p:sp>
        <p:nvSpPr>
          <p:cNvPr id="33" name="Text 30"/>
          <p:cNvSpPr/>
          <p:nvPr/>
        </p:nvSpPr>
        <p:spPr>
          <a:xfrm>
            <a:off x="1344168" y="4133088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Inventory &amp; Replenish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3399282" y="4133088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3582162" y="4133088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176522" y="4133088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Footfall &amp; Conversion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231636" y="4133088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414516" y="4133088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800" dirty="0"/>
          </a:p>
        </p:txBody>
      </p:sp>
      <p:sp>
        <p:nvSpPr>
          <p:cNvPr id="39" name="Text 36"/>
          <p:cNvSpPr/>
          <p:nvPr/>
        </p:nvSpPr>
        <p:spPr>
          <a:xfrm>
            <a:off x="7008876" y="4133088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Customer Feedback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9063990" y="4133088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9246870" y="4133088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9841230" y="4133088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Compliance Checklist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66928" y="5193792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749808" y="5193792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1800" dirty="0"/>
          </a:p>
        </p:txBody>
      </p:sp>
      <p:sp>
        <p:nvSpPr>
          <p:cNvPr id="45" name="Text 42"/>
          <p:cNvSpPr/>
          <p:nvPr/>
        </p:nvSpPr>
        <p:spPr>
          <a:xfrm>
            <a:off x="1344168" y="5193792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Risk Register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A3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final/doft_giftbo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38160" y="0"/>
            <a:ext cx="405079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498080" y="0"/>
            <a:ext cx="1005840" cy="6858000"/>
          </a:xfrm>
          <a:prstGeom prst="rect">
            <a:avLst/>
          </a:prstGeom>
          <a:solidFill>
            <a:srgbClr val="4A343A">
              <a:alpha val="6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66928" y="1188720"/>
            <a:ext cx="7406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Let's make Doft's Diwali unmissable.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566928" y="278892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4A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premium retail partner with proven mall, VM and multi-city manpower experience — committed to Doft for Diwali 2026, 2027 and 2028.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85216" y="3840480"/>
            <a:ext cx="7040880" cy="0"/>
          </a:xfrm>
          <a:prstGeom prst="line">
            <a:avLst/>
          </a:prstGeom>
          <a:noFill/>
          <a:ln w="19050">
            <a:solidFill>
              <a:srgbClr val="B8924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02336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9B4A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Prepared by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1572768" y="4023360"/>
            <a:ext cx="16459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50800" dist="12700" dir="5400000">
              <a:srgbClr val="B8A894">
                <a:alpha val="35000"/>
              </a:srgbClr>
            </a:outerShdw>
          </a:effectLst>
        </p:spPr>
      </p:sp>
      <p:pic>
        <p:nvPicPr>
          <p:cNvPr id="9" name="Image 1" descr="assets/final/promarcom_logo_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4091379"/>
            <a:ext cx="1408176" cy="321163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493008" y="3950208"/>
            <a:ext cx="1920240" cy="640080"/>
          </a:xfrm>
          <a:prstGeom prst="roundRect">
            <a:avLst>
              <a:gd name="adj" fmla="val 8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C9B4AC"/>
            </a:solidFill>
            <a:prstDash val="dash"/>
          </a:ln>
        </p:spPr>
      </p:sp>
      <p:sp>
        <p:nvSpPr>
          <p:cNvPr id="11" name="Text 7"/>
          <p:cNvSpPr/>
          <p:nvPr/>
        </p:nvSpPr>
        <p:spPr>
          <a:xfrm>
            <a:off x="3493008" y="400507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spc="300" kern="0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 O  F  T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3493008" y="429768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spc="100" kern="0" dirty="0">
                <a:solidFill>
                  <a:srgbClr val="C9B4A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client logo — placeholder</a:t>
            </a:r>
            <a:endParaRPr lang="en-US" sz="750" dirty="0"/>
          </a:p>
        </p:txBody>
      </p:sp>
      <p:sp>
        <p:nvSpPr>
          <p:cNvPr id="13" name="Text 9"/>
          <p:cNvSpPr/>
          <p:nvPr/>
        </p:nvSpPr>
        <p:spPr>
          <a:xfrm>
            <a:off x="566928" y="484632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B8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Prashant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566928" y="513892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+91 99538 88889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566928" y="544982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B4A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prashant@eventsactive.com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4224528" y="484632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B8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Web  ·  USA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4224528" y="513892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www.eventsactive.com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4224528" y="544982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B4A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Padma  ·  +1 (408) 679-7148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70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Prepared as a planning response to the Doft Candles Request for Contractor. Figures illustrative at placeholder rates.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ProMarcom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ProMarcom for Doft Candles — Diwali Pop-Up Retail Operations</dc:title>
  <dc:subject>PptxGenJS Presentation</dc:subject>
  <dc:creator>ProMarcom Inc.</dc:creator>
  <cp:lastModifiedBy>ProMarcom Inc.</cp:lastModifiedBy>
  <cp:revision>1</cp:revision>
  <dcterms:created xsi:type="dcterms:W3CDTF">2026-07-30T06:14:20Z</dcterms:created>
  <dcterms:modified xsi:type="dcterms:W3CDTF">2026-07-30T06:14:20Z</dcterms:modified>
</cp:coreProperties>
</file>