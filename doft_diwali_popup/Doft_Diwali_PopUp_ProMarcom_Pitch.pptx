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Per-kiosk cost heads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E5A45"/>
              </a:solidFill>
              <a:effectLst/>
            </c:spPr>
          </c:dPt>
          <c:dPt>
            <c:idx val="1"/>
            <c:bubble3D val="0"/>
            <c:spPr>
              <a:solidFill>
                <a:srgbClr val="C39A98"/>
              </a:solidFill>
              <a:effectLst/>
            </c:spPr>
          </c:dPt>
          <c:dPt>
            <c:idx val="2"/>
            <c:bubble3D val="0"/>
            <c:spPr>
              <a:solidFill>
                <a:srgbClr val="4A343A"/>
              </a:solidFill>
              <a:effectLst/>
            </c:spPr>
          </c:dPt>
          <c:dPt>
            <c:idx val="3"/>
            <c:bubble3D val="0"/>
            <c:spPr>
              <a:solidFill>
                <a:srgbClr val="B8924A"/>
              </a:solidFill>
              <a:effectLst/>
            </c:spPr>
          </c:dPt>
          <c:dPt>
            <c:idx val="4"/>
            <c:bubble3D val="0"/>
            <c:spPr>
              <a:solidFill>
                <a:srgbClr val="C9B9A6"/>
              </a:solidFill>
              <a:effectLst/>
            </c:spPr>
          </c:dPt>
          <c:dPt>
            <c:idx val="5"/>
            <c:bubble3D val="0"/>
            <c:spPr>
              <a:solidFill>
                <a:srgbClr val="E0D4C1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Manpower</c:v>
                </c:pt>
                <c:pt idx="1">
                  <c:v>Mall licence*</c:v>
                </c:pt>
                <c:pt idx="2">
                  <c:v>Kiosk fabrication</c:v>
                </c:pt>
                <c:pt idx="3">
                  <c:v>Logistics &amp; stockroom</c:v>
                </c:pt>
                <c:pt idx="4">
                  <c:v>Welfare &amp; incentives</c:v>
                </c:pt>
                <c:pt idx="5">
                  <c:v>Other setup &amp; compliance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393</c:v>
                </c:pt>
                <c:pt idx="1">
                  <c:v>250</c:v>
                </c:pt>
                <c:pt idx="2">
                  <c:v>225</c:v>
                </c:pt>
                <c:pt idx="3">
                  <c:v>100</c:v>
                </c:pt>
                <c:pt idx="4">
                  <c:v>55</c:v>
                </c:pt>
                <c:pt idx="5">
                  <c:v>102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5302B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final/doft_hero_lef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55280" y="0"/>
            <a:ext cx="42336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55280" y="0"/>
            <a:ext cx="0" cy="685800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66928" y="548640"/>
            <a:ext cx="2286000" cy="868680"/>
          </a:xfrm>
          <a:prstGeom prst="roundRect">
            <a:avLst>
              <a:gd name="adj" fmla="val 6316"/>
            </a:avLst>
          </a:prstGeom>
          <a:solidFill>
            <a:srgbClr val="FCFAF5"/>
          </a:solidFill>
          <a:ln w="12700">
            <a:solidFill>
              <a:srgbClr val="C39A98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566928" y="603504"/>
            <a:ext cx="22860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300" kern="0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O  F  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66928" y="11247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logo — placeholder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66928" y="1965960"/>
            <a:ext cx="7114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EXECUTION &amp; PARTNERSHIP PROPOSAL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2331720"/>
            <a:ext cx="7114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Diwali Pop-Up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566928" y="3200400"/>
            <a:ext cx="7114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 Operations</a:t>
            </a:r>
            <a:endParaRPr lang="en-US" sz="5000" dirty="0"/>
          </a:p>
        </p:txBody>
      </p:sp>
      <p:sp>
        <p:nvSpPr>
          <p:cNvPr id="10" name="Shape 7"/>
          <p:cNvSpPr/>
          <p:nvPr/>
        </p:nvSpPr>
        <p:spPr>
          <a:xfrm>
            <a:off x="585216" y="4206240"/>
            <a:ext cx="3291840" cy="0"/>
          </a:xfrm>
          <a:prstGeom prst="line">
            <a:avLst/>
          </a:prstGeom>
          <a:noFill/>
          <a:ln w="19050">
            <a:solidFill>
              <a:srgbClr val="C39A9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352544"/>
            <a:ext cx="7114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 </a:t>
            </a:r>
            <a:pPr indent="0" marL="0">
              <a:buNone/>
            </a:pPr>
            <a:r>
              <a:rPr lang="en-US" sz="130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Doft Candles</a:t>
            </a:r>
            <a:pPr indent="0" marL="0">
              <a:buNone/>
            </a:pPr>
            <a:r>
              <a:rPr lang="en-US" sz="130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Diwali Seasons 2026 · 2027 · 2028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66928" y="5029200"/>
            <a:ext cx="7114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9A9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“Experiencing the world through scent.”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66928" y="574243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00" dirty="0"/>
          </a:p>
        </p:txBody>
      </p:sp>
      <p:pic>
        <p:nvPicPr>
          <p:cNvPr id="14" name="Image 1" descr="assets/final/promarcom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5705856"/>
            <a:ext cx="1554480" cy="35453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Understanding your brief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seasonal pop-up kiosks in leading malls — staffed and run end-to-end, as a long-term partner for Diwali 2026–28.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66928" y="1965960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295144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8" name="Text 5"/>
          <p:cNvSpPr/>
          <p:nvPr/>
        </p:nvSpPr>
        <p:spPr>
          <a:xfrm>
            <a:off x="978408" y="2148840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3–5 wks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22960" y="2679192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window before Diwali, each season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58640" y="1965960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4672" y="2295144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2" name="Text 9"/>
          <p:cNvSpPr/>
          <p:nvPr/>
        </p:nvSpPr>
        <p:spPr>
          <a:xfrm>
            <a:off x="4770120" y="2148840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~300 sq ft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614672" y="2679192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Kiosk footprint, plus a ~90 sq ft stockroom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50352" y="1965960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406384" y="2295144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6" name="Text 13"/>
          <p:cNvSpPr/>
          <p:nvPr/>
        </p:nvSpPr>
        <p:spPr>
          <a:xfrm>
            <a:off x="8561832" y="2148840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2–4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06384" y="2679192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Pop-ups per region, across multiple cities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3630168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22960" y="3959352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0" name="Text 17"/>
          <p:cNvSpPr/>
          <p:nvPr/>
        </p:nvSpPr>
        <p:spPr>
          <a:xfrm>
            <a:off x="978408" y="3813048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kiosk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822960" y="4343400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staffing team at every pop-up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358640" y="3630168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614672" y="3959352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4" name="Text 21"/>
          <p:cNvSpPr/>
          <p:nvPr/>
        </p:nvSpPr>
        <p:spPr>
          <a:xfrm>
            <a:off x="4770120" y="3813048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1-day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4614672" y="4343400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Doft product &amp; sales training, 100% attendance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150352" y="3630168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8406384" y="3959352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8" name="Text 25"/>
          <p:cNvSpPr/>
          <p:nvPr/>
        </p:nvSpPr>
        <p:spPr>
          <a:xfrm>
            <a:off x="8561832" y="3813048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Doft supplies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8406384" y="4343400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Stock, furniture, POS/EDC, returnable uniforms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A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463040"/>
            <a:ext cx="4206240" cy="4206240"/>
          </a:xfrm>
          <a:prstGeom prst="ellipse">
            <a:avLst/>
          </a:prstGeom>
          <a:solidFill>
            <a:srgbClr val="3A283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120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PROMARCOM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804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partner built for premium mall retail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delivers below-the-line, retail and experiential marketing end to end — concept, design, fabrication, manpower, operations and reporting.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 &amp; Retail Promotions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Multi-month mall activations and in-shop demonstrations for global brands.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99282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3602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3" name="Text 11"/>
          <p:cNvSpPr/>
          <p:nvPr/>
        </p:nvSpPr>
        <p:spPr>
          <a:xfrm>
            <a:off x="3673602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5314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 Retail VM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5314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Show-windows &amp; VM for Burberry, Louis Vuitton, LG, Samsung across 90+ cities.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31636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5956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8" name="Text 16"/>
          <p:cNvSpPr/>
          <p:nvPr/>
        </p:nvSpPr>
        <p:spPr>
          <a:xfrm>
            <a:off x="65059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87668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Manpower at Scale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87668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Recruit, train, deploy and manage large field teams with tracking and reporting.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63990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38310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3" name="Text 21"/>
          <p:cNvSpPr/>
          <p:nvPr/>
        </p:nvSpPr>
        <p:spPr>
          <a:xfrm>
            <a:off x="933831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320022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Exhibitions &amp; Events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320022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1,000–24,000 sqm exhibitions; events for LG, Samsung, HP, ICC World Cup.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B4A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proven track record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68096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90+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768096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Cities covered for retail VM &amp; activations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399282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600450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3,000</a:t>
            </a:r>
            <a:endParaRPr lang="en-US" sz="3300" dirty="0"/>
          </a:p>
        </p:txBody>
      </p:sp>
      <p:sp>
        <p:nvSpPr>
          <p:cNvPr id="10" name="Text 7"/>
          <p:cNvSpPr/>
          <p:nvPr/>
        </p:nvSpPr>
        <p:spPr>
          <a:xfrm>
            <a:off x="3600450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Man-days on one multi-city retail rollout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31636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32804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24,000</a:t>
            </a:r>
            <a:endParaRPr lang="en-US" sz="3300" dirty="0"/>
          </a:p>
        </p:txBody>
      </p:sp>
      <p:sp>
        <p:nvSpPr>
          <p:cNvPr id="13" name="Text 10"/>
          <p:cNvSpPr/>
          <p:nvPr/>
        </p:nvSpPr>
        <p:spPr>
          <a:xfrm>
            <a:off x="6432804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Sqm of exhibition floor managed (max)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063990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265158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6+ yrs</a:t>
            </a:r>
            <a:endParaRPr lang="en-US" sz="3300" dirty="0"/>
          </a:p>
        </p:txBody>
      </p:sp>
      <p:sp>
        <p:nvSpPr>
          <p:cNvPr id="16" name="Text 13"/>
          <p:cNvSpPr/>
          <p:nvPr/>
        </p:nvSpPr>
        <p:spPr>
          <a:xfrm>
            <a:off x="9265158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LG's BTL / retail / digital partner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66928" y="3520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by leading brands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2648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LG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439924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85644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Samsung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12920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58640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Hewlett-Packard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185916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31636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Bajaj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058912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104632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Castrol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931908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77628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Pepsi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12648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ITC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439924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485644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Burberry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312920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58640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Louis Vuitton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185916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31636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Panasonic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8058912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04632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Pearson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931908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977628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ICC World Cup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566928" y="58064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selection from ProMarcom credentials.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RELEVANT EXPERIENCE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have run exactly this before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536192"/>
            <a:ext cx="3471672" cy="4114800"/>
          </a:xfrm>
          <a:prstGeom prst="roundRect">
            <a:avLst>
              <a:gd name="adj" fmla="val 184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pic>
        <p:nvPicPr>
          <p:cNvPr id="6" name="Image 1" descr="assets/final/hp_mall_prom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6656" y="1645920"/>
            <a:ext cx="3252216" cy="1828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76656" y="1645920"/>
            <a:ext cx="3252216" cy="1828800"/>
          </a:xfrm>
          <a:prstGeom prst="rect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68096" y="3566160"/>
            <a:ext cx="306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HP — Mall Promotions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68096" y="3986784"/>
            <a:ext cx="306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5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Mumbai &amp; Bengaluru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68096" y="4297680"/>
            <a:ext cx="3069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3-month mall promotion: fabrication, manpower, props, merchandising, logistics &amp; reporting.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58640" y="1536192"/>
            <a:ext cx="3471672" cy="4114800"/>
          </a:xfrm>
          <a:prstGeom prst="roundRect">
            <a:avLst>
              <a:gd name="adj" fmla="val 184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pic>
        <p:nvPicPr>
          <p:cNvPr id="12" name="Image 2" descr="assets/final/burberry_window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68368" y="1645920"/>
            <a:ext cx="3252216" cy="18288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468368" y="1645920"/>
            <a:ext cx="3252216" cy="1828800"/>
          </a:xfrm>
          <a:prstGeom prst="rect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59808" y="3566160"/>
            <a:ext cx="306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Burberry &amp; Louis Vuitton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4559808" y="3986784"/>
            <a:ext cx="306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5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Retail VM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559808" y="4297680"/>
            <a:ext cx="3069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Luxury show-windows, in-shop props &amp; merchandise — the premium standard Doft demands.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8150352" y="1536192"/>
            <a:ext cx="3471672" cy="4114800"/>
          </a:xfrm>
          <a:prstGeom prst="roundRect">
            <a:avLst>
              <a:gd name="adj" fmla="val 184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pic>
        <p:nvPicPr>
          <p:cNvPr id="18" name="Image 3" descr="assets/final/hp_veg_car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260080" y="1645920"/>
            <a:ext cx="3252216" cy="18288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260080" y="1645920"/>
            <a:ext cx="3252216" cy="1828800"/>
          </a:xfrm>
          <a:prstGeom prst="rect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8351520" y="3566160"/>
            <a:ext cx="306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LG Cookie Pep Carnival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51520" y="3986784"/>
            <a:ext cx="306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5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70+ cities · 3,000 man-days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8351520" y="4297680"/>
            <a:ext cx="3069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Shop-to-shop retail activation across India — multi-city manpower at scale.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accountable partner, end to end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980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4980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 Build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4980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On-site fabrication &amp; install to Doft design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5584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53872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53872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 &amp; Legal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53872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Liaison, licences, permits, approvals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14476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32764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32764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32764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Ghaziabad pickup, replenishment, returns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93368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911656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911656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 &amp; Staff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911656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Hire, BGV, payroll, statutory compliance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1938528" y="35661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2121408" y="37124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2121408" y="40416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2121408" y="440740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attendance + a trained bench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727448" y="35661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910328" y="37124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4910328" y="40416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 Ops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4910328" y="440740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Open–close, sales, POS, VM, cash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516368" y="35661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7699248" y="37124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7699248" y="40416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7699248" y="440740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sales, footfall, stock, attendance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66928" y="53035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single Team Leader on ProMarcom's payroll owns daily operations at every kiosk — your one point of contact.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people per kiosk — exactly to brief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572768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86384" y="1847088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6384" y="184708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1709928" y="1865376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Executives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709928" y="2304288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Female, 22–25, fluent English, retail experience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58640" y="1572768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8096" y="1847088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8096" y="184708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5501640" y="1865376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Support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501640" y="2304288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Merchandising, stock, queue management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50352" y="1572768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69808" y="1847088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69808" y="184708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293352" y="1865376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Helper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293352" y="2304288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Housekeeping &amp; material handling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6928" y="3419856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86384" y="3694176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23" name="Text 20"/>
          <p:cNvSpPr/>
          <p:nvPr/>
        </p:nvSpPr>
        <p:spPr>
          <a:xfrm>
            <a:off x="1709928" y="3712464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Cashier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709928" y="4151376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Experienced on POS / EDC machines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358640" y="3419856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78096" y="3694176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8096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28" name="Text 25"/>
          <p:cNvSpPr/>
          <p:nvPr/>
        </p:nvSpPr>
        <p:spPr>
          <a:xfrm>
            <a:off x="5501640" y="3712464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Driver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5501640" y="4151376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transport &amp; replenishment runs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8150352" y="3419856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369808" y="3694176"/>
            <a:ext cx="749808" cy="749808"/>
          </a:xfrm>
          <a:prstGeom prst="ellipse">
            <a:avLst/>
          </a:prstGeom>
          <a:solidFill>
            <a:srgbClr val="4A343A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69808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33" name="Text 30"/>
          <p:cNvSpPr/>
          <p:nvPr/>
        </p:nvSpPr>
        <p:spPr>
          <a:xfrm>
            <a:off x="9293352" y="3712464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Leader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293352" y="4151376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ProMarcom employee — ops owner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66928" y="5349240"/>
            <a:ext cx="11055096" cy="658368"/>
          </a:xfrm>
          <a:prstGeom prst="roundRect">
            <a:avLst>
              <a:gd name="adj" fmla="val 9722"/>
            </a:avLst>
          </a:prstGeom>
          <a:solidFill>
            <a:srgbClr val="4A343A"/>
          </a:solidFill>
          <a:ln/>
        </p:spPr>
      </p:sp>
      <p:sp>
        <p:nvSpPr>
          <p:cNvPr id="36" name="Text 33"/>
          <p:cNvSpPr/>
          <p:nvPr/>
        </p:nvSpPr>
        <p:spPr>
          <a:xfrm>
            <a:off x="841248" y="5349240"/>
            <a:ext cx="10506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per kiosk</a:t>
            </a:r>
            <a:pPr indent="0" marL="0">
              <a:buNone/>
            </a:pPr>
            <a:r>
              <a:rPr lang="en-US" sz="1400" dirty="0">
                <a:solidFill>
                  <a:srgbClr val="F3E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×   pop-ups   =   your deployed field force.   Illustrative 9-kiosk rollout  =  </a:t>
            </a:r>
            <a:pPr indent="0" marL="0">
              <a:buNone/>
            </a:pPr>
            <a:r>
              <a:rPr lang="en-US" sz="1400" b="1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trained staff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  ·  Train  ·  Guarantee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536192"/>
            <a:ext cx="3471672" cy="3337560"/>
          </a:xfrm>
          <a:prstGeom prst="roundRect">
            <a:avLst>
              <a:gd name="adj" fmla="val 1918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95528" y="1810512"/>
            <a:ext cx="457200" cy="45720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7" name="Text 4"/>
          <p:cNvSpPr/>
          <p:nvPr/>
        </p:nvSpPr>
        <p:spPr>
          <a:xfrm>
            <a:off x="79552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89888" y="1810512"/>
            <a:ext cx="246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 &amp; Verify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41248" y="2496312"/>
            <a:ext cx="29687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City-level sourcing &amp; referrals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Prioritise proven prior-season staff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verification before deploy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 to payroll, full compliance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58640" y="1536192"/>
            <a:ext cx="3471672" cy="3337560"/>
          </a:xfrm>
          <a:prstGeom prst="roundRect">
            <a:avLst>
              <a:gd name="adj" fmla="val 1918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7240" y="1810512"/>
            <a:ext cx="457200" cy="45720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2" name="Text 9"/>
          <p:cNvSpPr/>
          <p:nvPr/>
        </p:nvSpPr>
        <p:spPr>
          <a:xfrm>
            <a:off x="458724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181600" y="1810512"/>
            <a:ext cx="246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to Doft Standard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632960" y="2496312"/>
            <a:ext cx="29687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attendance at Doft's 1-day training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10–21 days before go-live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 tracked per candidate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Replacements trained too — always equal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150352" y="1536192"/>
            <a:ext cx="3471672" cy="3337560"/>
          </a:xfrm>
          <a:prstGeom prst="roundRect">
            <a:avLst>
              <a:gd name="adj" fmla="val 1918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78952" y="1810512"/>
            <a:ext cx="457200" cy="45720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7" name="Text 14"/>
          <p:cNvSpPr/>
          <p:nvPr/>
        </p:nvSpPr>
        <p:spPr>
          <a:xfrm>
            <a:off x="8378952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973312" y="1810512"/>
            <a:ext cx="246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Zero-Gap Guarantee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424672" y="2496312"/>
            <a:ext cx="29687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~15% trained bench held per city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same-day replacement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Attrition covered at no extra cost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never stops for a vacancy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5212080"/>
            <a:ext cx="11055096" cy="749808"/>
          </a:xfrm>
          <a:prstGeom prst="roundRect">
            <a:avLst>
              <a:gd name="adj" fmla="val 8537"/>
            </a:avLst>
          </a:prstGeom>
          <a:solidFill>
            <a:srgbClr val="9E5A45"/>
          </a:solidFill>
          <a:ln/>
        </p:spPr>
      </p:sp>
      <p:sp>
        <p:nvSpPr>
          <p:cNvPr id="21" name="Text 18"/>
          <p:cNvSpPr/>
          <p:nvPr/>
        </p:nvSpPr>
        <p:spPr>
          <a:xfrm>
            <a:off x="841248" y="5212080"/>
            <a:ext cx="10506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Contractual commitment:  any attrition after training or during operations is replaced immediately with equally-trained staff — at no additional cost to Doft.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Kiosk, mall coordination &amp; compliance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600200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41248" y="1883664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527048" y="1709928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 fabrication &amp; install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44568" y="1709928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On-site fabrication to Doft-approved design; transport, install, maintain, dismantle &amp; return fixtures — with a 3-day buffer before go-live.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2734056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3017520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527048" y="2843784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 coordination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544568" y="2843784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Liaison with mall management; electricity, access passes, loading/unloading and operational approvals.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66928" y="3867912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" y="4151376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527048" y="39776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Legal &amp; licensing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44568" y="3977640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permissions, licences and documentation — started at T-7 weeks to de-risk go-live.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001768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285232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22" name="Text 19"/>
          <p:cNvSpPr/>
          <p:nvPr/>
        </p:nvSpPr>
        <p:spPr>
          <a:xfrm>
            <a:off x="841248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527048" y="5111496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sign-off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544568" y="5111496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Shops &amp; Establishment, GST/e-invoicing, PF/ESIC, insurance, fire &amp; electrical, staff BGV — signed before opening.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Logistics &amp; stock replenishment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965960"/>
            <a:ext cx="2386584" cy="2514600"/>
          </a:xfrm>
          <a:prstGeom prst="roundRect">
            <a:avLst>
              <a:gd name="adj" fmla="val 2682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40180" y="2331720"/>
            <a:ext cx="640080" cy="64008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7" name="Text 4"/>
          <p:cNvSpPr/>
          <p:nvPr/>
        </p:nvSpPr>
        <p:spPr>
          <a:xfrm>
            <a:off x="14401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76656" y="320040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Ghaziabad Warehouse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374904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from Doft's warehouse; insured in transit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980944" y="246888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456432" y="1965960"/>
            <a:ext cx="2386584" cy="2514600"/>
          </a:xfrm>
          <a:prstGeom prst="roundRect">
            <a:avLst>
              <a:gd name="adj" fmla="val 2682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29684" y="2331720"/>
            <a:ext cx="640080" cy="64008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3" name="Text 10"/>
          <p:cNvSpPr/>
          <p:nvPr/>
        </p:nvSpPr>
        <p:spPr>
          <a:xfrm>
            <a:off x="4329684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66160" y="320040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Stockroom · ~90 sq ft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593592" y="374904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buffer beside each kiosk for fast refill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70448" y="246888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345936" y="1965960"/>
            <a:ext cx="2386584" cy="2514600"/>
          </a:xfrm>
          <a:prstGeom prst="roundRect">
            <a:avLst>
              <a:gd name="adj" fmla="val 2682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219188" y="2331720"/>
            <a:ext cx="640080" cy="64008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9" name="Text 16"/>
          <p:cNvSpPr/>
          <p:nvPr/>
        </p:nvSpPr>
        <p:spPr>
          <a:xfrm>
            <a:off x="7219188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455664" y="320040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 Shelf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483096" y="374904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fill to plan; reorder at minimum levels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759952" y="246888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9235440" y="1965960"/>
            <a:ext cx="2386584" cy="2514600"/>
          </a:xfrm>
          <a:prstGeom prst="roundRect">
            <a:avLst>
              <a:gd name="adj" fmla="val 2682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10108692" y="2331720"/>
            <a:ext cx="640080" cy="64008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5" name="Text 22"/>
          <p:cNvSpPr/>
          <p:nvPr/>
        </p:nvSpPr>
        <p:spPr>
          <a:xfrm>
            <a:off x="10108692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9345168" y="320040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Reconcile &amp; Return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9372600" y="374904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counts; unsold stock returned &amp; reconciled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074920"/>
            <a:ext cx="11055096" cy="749808"/>
          </a:xfrm>
          <a:prstGeom prst="roundRect">
            <a:avLst>
              <a:gd name="adj" fmla="val 8537"/>
            </a:avLst>
          </a:prstGeom>
          <a:solidFill>
            <a:srgbClr val="EADFCE"/>
          </a:solidFill>
          <a:ln/>
        </p:spPr>
      </p:sp>
      <p:sp>
        <p:nvSpPr>
          <p:cNvPr id="29" name="Text 26"/>
          <p:cNvSpPr/>
          <p:nvPr/>
        </p:nvSpPr>
        <p:spPr>
          <a:xfrm>
            <a:off x="841248" y="5074920"/>
            <a:ext cx="10506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Timely replenishment protects peak-day sales — no stock-outs when footfall is highest.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operations &amp; reporting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open-to-close execution, with a standard daily report to Doft per kiosk — consolidated by city.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66928" y="20116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04672" y="24780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8" name="Text 5"/>
          <p:cNvSpPr/>
          <p:nvPr/>
        </p:nvSpPr>
        <p:spPr>
          <a:xfrm>
            <a:off x="1042416" y="20116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399282" y="20116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37026" y="24780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1" name="Text 8"/>
          <p:cNvSpPr/>
          <p:nvPr/>
        </p:nvSpPr>
        <p:spPr>
          <a:xfrm>
            <a:off x="3874770" y="20116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Footfall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31636" y="20116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69380" y="24780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4" name="Text 11"/>
          <p:cNvSpPr/>
          <p:nvPr/>
        </p:nvSpPr>
        <p:spPr>
          <a:xfrm>
            <a:off x="6707124" y="20116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063990" y="20116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301734" y="24780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7" name="Text 14"/>
          <p:cNvSpPr/>
          <p:nvPr/>
        </p:nvSpPr>
        <p:spPr>
          <a:xfrm>
            <a:off x="9539478" y="20116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" y="33832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04672" y="38496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0" name="Text 17"/>
          <p:cNvSpPr/>
          <p:nvPr/>
        </p:nvSpPr>
        <p:spPr>
          <a:xfrm>
            <a:off x="1042416" y="33832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Replenishment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99282" y="33832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637026" y="38496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3" name="Text 20"/>
          <p:cNvSpPr/>
          <p:nvPr/>
        </p:nvSpPr>
        <p:spPr>
          <a:xfrm>
            <a:off x="3874770" y="33832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231636" y="33832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469380" y="38496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6" name="Text 23"/>
          <p:cNvSpPr/>
          <p:nvPr/>
        </p:nvSpPr>
        <p:spPr>
          <a:xfrm>
            <a:off x="6707124" y="33832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Feedback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63990" y="33832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301734" y="38496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9" name="Text 26"/>
          <p:cNvSpPr/>
          <p:nvPr/>
        </p:nvSpPr>
        <p:spPr>
          <a:xfrm>
            <a:off x="9539478" y="33832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Issues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66928" y="5029200"/>
            <a:ext cx="11055096" cy="932688"/>
          </a:xfrm>
          <a:prstGeom prst="roundRect">
            <a:avLst>
              <a:gd name="adj" fmla="val 6863"/>
            </a:avLst>
          </a:prstGeom>
          <a:solidFill>
            <a:srgbClr val="4A343A"/>
          </a:solidFill>
          <a:ln/>
        </p:spPr>
      </p:sp>
      <p:sp>
        <p:nvSpPr>
          <p:cNvPr id="31" name="Text 28"/>
          <p:cNvSpPr/>
          <p:nvPr/>
        </p:nvSpPr>
        <p:spPr>
          <a:xfrm>
            <a:off x="886968" y="514807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CADENCE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86968" y="5468112"/>
            <a:ext cx="10415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</a:t>
            </a:r>
            <a:pPr indent="0" marL="0">
              <a:buNone/>
            </a:pPr>
            <a:r>
              <a:rPr lang="en-US" sz="1250" dirty="0">
                <a:solidFill>
                  <a:srgbClr val="F3E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written report     </a:t>
            </a:r>
            <a:pPr indent="0" marL="0">
              <a:buNone/>
            </a:pPr>
            <a:r>
              <a:rPr lang="en-US" sz="125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</a:t>
            </a:r>
            <a:pPr indent="0" marL="0">
              <a:buNone/>
            </a:pPr>
            <a:r>
              <a:rPr lang="en-US" sz="1250" b="1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</a:t>
            </a:r>
            <a:pPr indent="0" marL="0">
              <a:buNone/>
            </a:pPr>
            <a:r>
              <a:rPr lang="en-US" sz="1250" dirty="0">
                <a:solidFill>
                  <a:srgbClr val="F3E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city review call     </a:t>
            </a:r>
            <a:pPr indent="0" marL="0">
              <a:buNone/>
            </a:pPr>
            <a:r>
              <a:rPr lang="en-US" sz="125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</a:t>
            </a:r>
            <a:pPr indent="0" marL="0">
              <a:buNone/>
            </a:pPr>
            <a:r>
              <a:rPr lang="en-US" sz="1250" b="1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End-of-season</a:t>
            </a:r>
            <a:pPr indent="0" marL="0">
              <a:buNone/>
            </a:pPr>
            <a:r>
              <a:rPr lang="en-US" sz="1250" dirty="0">
                <a:solidFill>
                  <a:srgbClr val="F3E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reconciliation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timeline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44168" y="3154680"/>
            <a:ext cx="9500616" cy="0"/>
          </a:xfrm>
          <a:prstGeom prst="line">
            <a:avLst/>
          </a:prstGeom>
          <a:noFill/>
          <a:ln w="25400">
            <a:solidFill>
              <a:srgbClr val="C39A9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T-8w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Award &amp; kick-off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344168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43584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0" name="Text 7"/>
          <p:cNvSpPr/>
          <p:nvPr/>
        </p:nvSpPr>
        <p:spPr>
          <a:xfrm>
            <a:off x="1924159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T-7w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924159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Malls &amp; licences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01399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00815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4" name="Text 11"/>
          <p:cNvSpPr/>
          <p:nvPr/>
        </p:nvSpPr>
        <p:spPr>
          <a:xfrm>
            <a:off x="328139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T-6w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281390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 &amp; BGV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058630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8046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8" name="Text 15"/>
          <p:cNvSpPr/>
          <p:nvPr/>
        </p:nvSpPr>
        <p:spPr>
          <a:xfrm>
            <a:off x="4638621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T-3w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638621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Kiosk fit-out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15861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315277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22" name="Text 19"/>
          <p:cNvSpPr/>
          <p:nvPr/>
        </p:nvSpPr>
        <p:spPr>
          <a:xfrm>
            <a:off x="5995851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T-2w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995851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Doft training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773091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72507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26" name="Text 23"/>
          <p:cNvSpPr/>
          <p:nvPr/>
        </p:nvSpPr>
        <p:spPr>
          <a:xfrm>
            <a:off x="7353082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T-1w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7353082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&amp; first fill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8130322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029738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30" name="Text 27"/>
          <p:cNvSpPr/>
          <p:nvPr/>
        </p:nvSpPr>
        <p:spPr>
          <a:xfrm>
            <a:off x="8710313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710313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Go-live — ops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9487553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386969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34" name="Text 31"/>
          <p:cNvSpPr/>
          <p:nvPr/>
        </p:nvSpPr>
        <p:spPr>
          <a:xfrm>
            <a:off x="10067544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T+6w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10067544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Dismantle &amp; review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844784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744200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38" name="Text 35"/>
          <p:cNvSpPr/>
          <p:nvPr/>
        </p:nvSpPr>
        <p:spPr>
          <a:xfrm>
            <a:off x="566928" y="57150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to go-live (T). Operations run 3–5 weeks per the brief. Full per-region Gantt is in the operations workbook.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illustrative first-season footprint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starting scenario for a premium brand — fully scalable. Final cities &amp; kiosk counts are yours to set.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441192" cy="1691640"/>
          </a:xfrm>
          <a:prstGeom prst="roundRect">
            <a:avLst>
              <a:gd name="adj" fmla="val 3784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606040"/>
            <a:ext cx="289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Delhi-NCR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41248" y="32461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kiosks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3880" y="2286000"/>
            <a:ext cx="3441192" cy="1691640"/>
          </a:xfrm>
          <a:prstGeom prst="roundRect">
            <a:avLst>
              <a:gd name="adj" fmla="val 3784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8200" y="2606040"/>
            <a:ext cx="289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Mumbai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48200" y="32461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kiosks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80832" y="2286000"/>
            <a:ext cx="3441192" cy="1691640"/>
          </a:xfrm>
          <a:prstGeom prst="roundRect">
            <a:avLst>
              <a:gd name="adj" fmla="val 3784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55152" y="2606040"/>
            <a:ext cx="289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Bengaluru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455152" y="32461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kiosks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749808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kiosks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22142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05022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3605022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staff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77356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0236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3–5 wks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6460236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window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32570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15450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2028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315450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Committed through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only — the brief specifies 2–4 pop-ups per region across multiple cities. Change two inputs in the workbook to re-scope.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B4A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transparent, built-up cost model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1371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bottom-up per kiosk, then rolled up. Every line is an editable input in the workbook.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87452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126480" y="1920240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309360" y="1920240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cost / kiosk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9884664" y="19202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11.3 L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126480" y="2542032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309360" y="2542032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Management margin (15%)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9884664" y="25420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1.7 L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3163824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309360" y="3163824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value / kiosk (pre-GST)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9884664" y="316382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12.9 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126480" y="3785616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09360" y="3785616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9 kiosks (illustrative)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9884664" y="37856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1.16 Cr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126480" y="4407408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309360" y="4407408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GST (18%)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9884664" y="440740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0.21 Cr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126480" y="5029200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309360" y="5029200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E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programme (incl. GST)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9884664" y="502920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1.37 Cr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Mall licence / space fee is the biggest swing item and is often reimbursed by the brand. Figures illustrative at placeholder rates.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protect the season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645920"/>
            <a:ext cx="4114800" cy="475488"/>
          </a:xfrm>
          <a:prstGeom prst="rect">
            <a:avLst/>
          </a:prstGeom>
          <a:solidFill>
            <a:srgbClr val="4A343A"/>
          </a:solidFill>
          <a:ln/>
        </p:spPr>
      </p:sp>
      <p:sp>
        <p:nvSpPr>
          <p:cNvPr id="6" name="Shape 3"/>
          <p:cNvSpPr/>
          <p:nvPr/>
        </p:nvSpPr>
        <p:spPr>
          <a:xfrm>
            <a:off x="4681728" y="1645920"/>
            <a:ext cx="6940296" cy="475488"/>
          </a:xfrm>
          <a:prstGeom prst="rect">
            <a:avLst/>
          </a:prstGeom>
          <a:solidFill>
            <a:srgbClr val="3A2830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64592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937760" y="1645920"/>
            <a:ext cx="6574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1055096" cy="822960"/>
          </a:xfrm>
          <a:prstGeom prst="rect">
            <a:avLst/>
          </a:prstGeom>
          <a:solidFill>
            <a:srgbClr val="EADFCE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12140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 attrition after training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937760" y="212140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trained bench; same-day no-cost replacement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944368"/>
            <a:ext cx="11055096" cy="822960"/>
          </a:xfrm>
          <a:prstGeom prst="rect">
            <a:avLst/>
          </a:prstGeom>
          <a:solidFill>
            <a:srgbClr val="FCFAF5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94436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 permission delays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937760" y="294436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 kicked off at T-7w; parallel mall shortlist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67328"/>
            <a:ext cx="11055096" cy="822960"/>
          </a:xfrm>
          <a:prstGeom prst="rect">
            <a:avLst/>
          </a:prstGeom>
          <a:solidFill>
            <a:srgbClr val="EADFCE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Stock-out on peak days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937760" y="376732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Reorder levels + daily replenishment from stockroom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590288"/>
            <a:ext cx="11055096" cy="822960"/>
          </a:xfrm>
          <a:prstGeom prst="rect">
            <a:avLst/>
          </a:prstGeom>
          <a:solidFill>
            <a:srgbClr val="FCFAF5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459028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 / EDC downtime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937760" y="459028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EDC + connectivity failover; trained cashier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413248"/>
            <a:ext cx="11055096" cy="822960"/>
          </a:xfrm>
          <a:prstGeom prst="rect">
            <a:avLst/>
          </a:prstGeom>
          <a:solidFill>
            <a:srgbClr val="EADFCE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541324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 fabrication delay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4937760" y="541324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SLA + 3-day buffer before go-live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TOOLKIT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operations workbook</a:t>
            </a:r>
            <a:endParaRPr lang="en-US" sz="3100" dirty="0"/>
          </a:p>
        </p:txBody>
      </p:sp>
      <p:pic>
        <p:nvPicPr>
          <p:cNvPr id="4" name="Image 0" descr="assets/final/promarco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1371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deck ships with a live Excel workbook — the operating system for the engagement. Edit the assumptions; everything recalculates.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66928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44168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99282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82162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176522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Timeline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31636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4516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008876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Staffing Plan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063990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246870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841230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Cost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9808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344168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Summary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399282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582162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4176522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Recruitment Tracker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231636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14516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008876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9063990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246870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9841230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Sales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566928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49808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1344168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Replenish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3399282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582162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4176522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Footfall &amp; Conversion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231636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14516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7008876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Feedback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9063990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246870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9841230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Checklist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566928" y="5193792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49808" y="5193792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800" dirty="0"/>
          </a:p>
        </p:txBody>
      </p:sp>
      <p:sp>
        <p:nvSpPr>
          <p:cNvPr id="44" name="Text 41"/>
          <p:cNvSpPr/>
          <p:nvPr/>
        </p:nvSpPr>
        <p:spPr>
          <a:xfrm>
            <a:off x="1344168" y="5193792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Register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A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final/doft_gift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38160" y="0"/>
            <a:ext cx="40507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498080" y="0"/>
            <a:ext cx="1005840" cy="6858000"/>
          </a:xfrm>
          <a:prstGeom prst="rect">
            <a:avLst/>
          </a:prstGeom>
          <a:solidFill>
            <a:srgbClr val="4A343A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1188720"/>
            <a:ext cx="7406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make Doft's Diwali unmissable.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66928" y="27889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premium retail partner with proven mall, VM and multi-city manpower experience — committed to Doft for Diwali 2026, 2027 and 2028.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85216" y="3840480"/>
            <a:ext cx="7040880" cy="0"/>
          </a:xfrm>
          <a:prstGeom prst="line">
            <a:avLst/>
          </a:prstGeom>
          <a:noFill/>
          <a:ln w="19050">
            <a:solidFill>
              <a:srgbClr val="B892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0233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00" dirty="0"/>
          </a:p>
        </p:txBody>
      </p:sp>
      <p:pic>
        <p:nvPicPr>
          <p:cNvPr id="8" name="Image 1" descr="assets/final/promarcom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4023360"/>
            <a:ext cx="1645920" cy="37538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493008" y="3950208"/>
            <a:ext cx="1920240" cy="640080"/>
          </a:xfrm>
          <a:prstGeom prst="roundRect">
            <a:avLst>
              <a:gd name="adj" fmla="val 8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9B4AC"/>
            </a:solidFill>
            <a:prstDash val="dash"/>
          </a:ln>
        </p:spPr>
      </p:sp>
      <p:sp>
        <p:nvSpPr>
          <p:cNvPr id="10" name="Text 6"/>
          <p:cNvSpPr/>
          <p:nvPr/>
        </p:nvSpPr>
        <p:spPr>
          <a:xfrm>
            <a:off x="3493008" y="40050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300" kern="0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O  F  T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3493008" y="42976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spc="100" kern="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logo — placeholder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566928" y="4846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Prashant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66928" y="51389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+91 99538 88889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66928" y="54498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prashant@eventsactive.com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224528" y="4846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 ·  USA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224528" y="51389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www.eventsactive.com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224528" y="54498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Padma  ·  +1 (408) 679-7148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as a planning response to the Doft Candles Request for Contractor. Figures illustrative at placeholder rates.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ProMarcom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ProMarcom for Doft Candles — Diwali Pop-Up Retail Operations</dc:title>
  <dc:subject>PptxGenJS Presentation</dc:subject>
  <dc:creator>ProMarcom Inc.</dc:creator>
  <cp:lastModifiedBy>ProMarcom Inc.</cp:lastModifiedBy>
  <cp:revision>1</cp:revision>
  <dcterms:created xsi:type="dcterms:W3CDTF">2026-07-30T10:55:37Z</dcterms:created>
  <dcterms:modified xsi:type="dcterms:W3CDTF">2026-07-30T10:55:37Z</dcterms:modified>
</cp:coreProperties>
</file>